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2" d="100"/>
          <a:sy n="62" d="100"/>
        </p:scale>
        <p:origin x="804" y="2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ha Eddine Ouni (imec)" userId="bcf4fb13-d2a3-4192-a384-9b442c512602" providerId="ADAL" clId="{51A06F75-AF97-4DA3-9A7B-FF9559DE93CF}"/>
    <pc:docChg chg="undo custSel mod modSld">
      <pc:chgData name="Baha Eddine Ouni (imec)" userId="bcf4fb13-d2a3-4192-a384-9b442c512602" providerId="ADAL" clId="{51A06F75-AF97-4DA3-9A7B-FF9559DE93CF}" dt="2026-06-11T18:55:08.801" v="2" actId="1076"/>
      <pc:docMkLst>
        <pc:docMk/>
      </pc:docMkLst>
      <pc:sldChg chg="modSp mod">
        <pc:chgData name="Baha Eddine Ouni (imec)" userId="bcf4fb13-d2a3-4192-a384-9b442c512602" providerId="ADAL" clId="{51A06F75-AF97-4DA3-9A7B-FF9559DE93CF}" dt="2026-06-11T18:55:08.801" v="2" actId="1076"/>
        <pc:sldMkLst>
          <pc:docMk/>
          <pc:sldMk cId="0" sldId="257"/>
        </pc:sldMkLst>
        <pc:spChg chg="mod">
          <ac:chgData name="Baha Eddine Ouni (imec)" userId="bcf4fb13-d2a3-4192-a384-9b442c512602" providerId="ADAL" clId="{51A06F75-AF97-4DA3-9A7B-FF9559DE93CF}" dt="2026-06-11T18:55:08.801" v="2" actId="1076"/>
          <ac:spMkLst>
            <pc:docMk/>
            <pc:sldMk cId="0" sldId="257"/>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4294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Persistent AI agents are coming to every enterprise. The thing stopping them isn't compute -- it's memory. Nemorix is an operating system for agent memory. In simulation, it runs 50 agents on a GPU that fits 6, wakes them 120 times faster, and cuts cost per agent by about 85%. Let me show you.</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you run an AI agent, it builds up a memory called the KV-cache -- for a long conversation that's about 20 gigabytes. A top-end H100 GPU only fits a handful. So today's engines -- vLLM, TensorRT -- do the brutal thing: when memory fills, they throw the agent's memory away. Next time it wakes, it recomputes from scratch. One to two seconds of dead time, every resume. It caps how many agents you can run, and it's expensive.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market just shifted from stateless chatbots to persistent agents that run for hours. Those agents are idle 75 to 98 percent of the time -- yet their memory sits in the most expensive real estate in the data center. Nobody has built a memory manager designed for this. That's the gap.</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Operating systems solved this in the 1960s. Your laptop runs more apps than fit in RAM by paging idle parts out to disk and back -- invisibly. We do exactly that for agents: an agent is a process, its KV-cache is its memory, and instead of deleting it when the GPU is full, we page it down to cheaper storage and bring it back in milliseconds. The idea stands on 60 years of proven theory.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Nemorix manages each agent's memory across four tiers. The star is CXL -- Compute Express Link -- 10x cheaper than GPU memory but fast enough to wake an agent in under 100 milliseconds. We add lifecycle-aware scheduling, semantic eviction that decides what's worth keeping, and progressive page-in that loads just the first layers an agent needs to start responding.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proof. Average resume latency drops from about 1,150 milliseconds to 9.5 -- 120x faster. Every one of the 50 agents now meets a 200-millisecond SLA; with recompute, zero do. Cost per agent-hour falls about 85%. And these are averaged over eight random seeds with only about 2% variation. Not one lucky run.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 small scale, LRU and Nemorix are similar -- CXL does the heavy lifting. The difference shows at 500 agents when the hierarchy is full. Plain LRU keeps 65 agents under SLA. Nemorix keeps 273 -- over four times more -- because semantic eviction protects the agents that matter. That's our defensible algorithmic edge.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ingredient exists, but nobody combines them. vLLM is request-centric and LRU-only. Dynamo has tiers but no CXL. FlexGen and Mooncake optimize batch throughput, not agent persistence. There's CXL work -- but for training, a different problem. Nemorix is the only system at the intersection of CXL, agent-lifecycle scheduling, and semantic eviction.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why imec is the right home. Nemorix's bet is CXL -- and imec has world-class CXL and memory expertise, hardware-software co-design, direct relationships with Samsung and SK Hynix, and the HPC infrastructure to validate on real hardware. Almost no one else on earth can take this from simulation to production. That's our unfair advantage.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I'm asking for is a new internal R&amp;D track to validate Nemorix on real hardware. The simulator is done and reproducible. The next milestone -- turning 'simulation suggests' into 'we measured' -- is integrating with vLLM and running on a real H100 with a CXL DIMM here at imec. Roughly 80 to 200 thousand euros for hardware and six months of engineering. From there: a paper, an open-source release, and a choice of spin-out, license, or upstream.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impact is democratization. Today, running fleets of persistent agents needs hyperscale budgets. Nemorix lets a research lab, a hospital, or a public institution do it on the hardware they already have -- faster, cheaper, more sustainably. We turn the GPU memory wall into a memory hierarchy. Thank you -- I'd love your questions.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Left: Nemorix raises concurrent agents under SLA from 6 to 50 on one GPU. Right: cost per agent-hour drops about 85%. Both reproducible from results.json.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Every number is reproducible with these commands, and every hardware constant traces to a published datasheet. Always lead with the honesty line: this is simulation calibrated to specs, and hardware validation is the next milestone.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55080"/>
            <a:ext cx="12191695" cy="5029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371600"/>
            <a:ext cx="10515600" cy="1280160"/>
          </a:xfrm>
          <a:prstGeom prst="rect">
            <a:avLst/>
          </a:prstGeom>
          <a:noFill/>
        </p:spPr>
        <p:txBody>
          <a:bodyPr wrap="square" anchor="t">
            <a:spAutoFit/>
          </a:bodyPr>
          <a:lstStyle/>
          <a:p>
            <a:pPr algn="l">
              <a:lnSpc>
                <a:spcPct val="100000"/>
              </a:lnSpc>
              <a:spcAft>
                <a:spcPts val="600"/>
              </a:spcAft>
            </a:pPr>
            <a:r>
              <a:rPr sz="6000" b="1" i="0">
                <a:solidFill>
                  <a:srgbClr val="FFFFFF"/>
                </a:solidFill>
                <a:latin typeface="Segoe UI"/>
              </a:rPr>
              <a:t>Nemorix</a:t>
            </a:r>
          </a:p>
        </p:txBody>
      </p:sp>
      <p:sp>
        <p:nvSpPr>
          <p:cNvPr id="5" name="TextBox 4"/>
          <p:cNvSpPr txBox="1"/>
          <p:nvPr/>
        </p:nvSpPr>
        <p:spPr>
          <a:xfrm>
            <a:off x="868680" y="2606040"/>
            <a:ext cx="10515600" cy="914400"/>
          </a:xfrm>
          <a:prstGeom prst="rect">
            <a:avLst/>
          </a:prstGeom>
          <a:noFill/>
        </p:spPr>
        <p:txBody>
          <a:bodyPr wrap="square" anchor="t">
            <a:spAutoFit/>
          </a:bodyPr>
          <a:lstStyle/>
          <a:p>
            <a:pPr algn="l">
              <a:lnSpc>
                <a:spcPct val="100000"/>
              </a:lnSpc>
              <a:spcAft>
                <a:spcPts val="600"/>
              </a:spcAft>
            </a:pPr>
            <a:r>
              <a:rPr sz="2600" b="1" i="0" dirty="0">
                <a:solidFill>
                  <a:srgbClr val="1B9AAA"/>
                </a:solidFill>
                <a:latin typeface="Segoe UI"/>
              </a:rPr>
              <a:t>A Virtual Memory Runtime for Persistent AI Agents</a:t>
            </a:r>
          </a:p>
        </p:txBody>
      </p:sp>
      <p:sp>
        <p:nvSpPr>
          <p:cNvPr id="6" name="TextBox 5"/>
          <p:cNvSpPr txBox="1"/>
          <p:nvPr/>
        </p:nvSpPr>
        <p:spPr>
          <a:xfrm>
            <a:off x="868680" y="3383280"/>
            <a:ext cx="10515600" cy="548640"/>
          </a:xfrm>
          <a:prstGeom prst="rect">
            <a:avLst/>
          </a:prstGeom>
          <a:noFill/>
        </p:spPr>
        <p:txBody>
          <a:bodyPr wrap="square" anchor="t">
            <a:spAutoFit/>
          </a:bodyPr>
          <a:lstStyle/>
          <a:p>
            <a:pPr algn="l">
              <a:lnSpc>
                <a:spcPct val="100000"/>
              </a:lnSpc>
              <a:spcAft>
                <a:spcPts val="600"/>
              </a:spcAft>
            </a:pPr>
            <a:r>
              <a:rPr sz="1700" b="0" i="0" dirty="0">
                <a:solidFill>
                  <a:srgbClr val="F4F7F9"/>
                </a:solidFill>
                <a:latin typeface="Segoe UI"/>
              </a:rPr>
              <a:t>OS-Inspired KV-Cache Tiering:  GPU VRAM → CXL → CPU RAM → SSD</a:t>
            </a:r>
          </a:p>
        </p:txBody>
      </p:sp>
      <p:sp>
        <p:nvSpPr>
          <p:cNvPr id="7" name="TextBox 6"/>
          <p:cNvSpPr txBox="1"/>
          <p:nvPr/>
        </p:nvSpPr>
        <p:spPr>
          <a:xfrm>
            <a:off x="868680" y="5212080"/>
            <a:ext cx="10515600" cy="822960"/>
          </a:xfrm>
          <a:prstGeom prst="rect">
            <a:avLst/>
          </a:prstGeom>
          <a:noFill/>
        </p:spPr>
        <p:txBody>
          <a:bodyPr wrap="square" anchor="t">
            <a:spAutoFit/>
          </a:bodyPr>
          <a:lstStyle/>
          <a:p>
            <a:pPr algn="l">
              <a:lnSpc>
                <a:spcPct val="100000"/>
              </a:lnSpc>
              <a:spcAft>
                <a:spcPts val="600"/>
              </a:spcAft>
            </a:pPr>
            <a:r>
              <a:rPr sz="1600" b="1" i="0" dirty="0">
                <a:solidFill>
                  <a:srgbClr val="FFFFFF"/>
                </a:solidFill>
                <a:latin typeface="Segoe UI"/>
              </a:rPr>
              <a:t>Baha </a:t>
            </a:r>
            <a:r>
              <a:rPr sz="1600" b="1" i="0" dirty="0" err="1">
                <a:solidFill>
                  <a:srgbClr val="FFFFFF"/>
                </a:solidFill>
                <a:latin typeface="Segoe UI"/>
              </a:rPr>
              <a:t>eddine</a:t>
            </a:r>
            <a:r>
              <a:rPr sz="1600" b="1" i="0" dirty="0">
                <a:solidFill>
                  <a:srgbClr val="FFFFFF"/>
                </a:solidFill>
                <a:latin typeface="Segoe UI"/>
              </a:rPr>
              <a:t> Ouni</a:t>
            </a:r>
          </a:p>
          <a:p>
            <a:pPr algn="l">
              <a:lnSpc>
                <a:spcPct val="100000"/>
              </a:lnSpc>
              <a:spcAft>
                <a:spcPts val="600"/>
              </a:spcAft>
            </a:pPr>
            <a:r>
              <a:rPr sz="1300" b="0" i="0" dirty="0">
                <a:solidFill>
                  <a:srgbClr val="F4F7F9"/>
                </a:solidFill>
                <a:latin typeface="Segoe UI"/>
              </a:rPr>
              <a:t>imec Innovation Challenge · 2026  ·  Ask: new internal R&amp;D track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dirty="0">
                <a:solidFill>
                  <a:srgbClr val="0B6E7A"/>
                </a:solidFill>
                <a:latin typeface="Segoe UI"/>
              </a:rPr>
              <a:t>THE PROBLEM</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dirty="0">
                <a:solidFill>
                  <a:srgbClr val="0B1F3A"/>
                </a:solidFill>
                <a:latin typeface="Segoe UI"/>
              </a:rPr>
              <a:t>AI agents lose their memory when the GPU fills up</a:t>
            </a:r>
          </a:p>
        </p:txBody>
      </p:sp>
      <p:sp>
        <p:nvSpPr>
          <p:cNvPr id="6" name="TextBox 5"/>
          <p:cNvSpPr txBox="1"/>
          <p:nvPr/>
        </p:nvSpPr>
        <p:spPr>
          <a:xfrm>
            <a:off x="640080" y="1828800"/>
            <a:ext cx="6675120" cy="3657600"/>
          </a:xfrm>
          <a:prstGeom prst="rect">
            <a:avLst/>
          </a:prstGeom>
          <a:noFill/>
        </p:spPr>
        <p:txBody>
          <a:bodyPr wrap="square" anchor="t">
            <a:spAutoFit/>
          </a:bodyPr>
          <a:lstStyle/>
          <a:p>
            <a:pPr algn="l">
              <a:lnSpc>
                <a:spcPct val="115000"/>
              </a:lnSpc>
              <a:spcAft>
                <a:spcPts val="1800"/>
              </a:spcAft>
            </a:pPr>
            <a:r>
              <a:rPr sz="1600" b="1" i="0" dirty="0">
                <a:solidFill>
                  <a:srgbClr val="1B9AAA"/>
                </a:solidFill>
                <a:latin typeface="Segoe UI"/>
              </a:rPr>
              <a:t>▶  </a:t>
            </a:r>
            <a:r>
              <a:rPr sz="1700" b="0" i="0" dirty="0">
                <a:solidFill>
                  <a:srgbClr val="1A1A1A"/>
                </a:solidFill>
                <a:latin typeface="Segoe UI"/>
              </a:rPr>
              <a:t>One long-context agent = ~20 GB of KV-cache. An 80 GB H100 fits only 4–6 agents.</a:t>
            </a:r>
          </a:p>
          <a:p>
            <a:pPr algn="l">
              <a:lnSpc>
                <a:spcPct val="115000"/>
              </a:lnSpc>
              <a:spcAft>
                <a:spcPts val="1800"/>
              </a:spcAft>
            </a:pPr>
            <a:r>
              <a:rPr sz="1600" b="1" i="0" dirty="0">
                <a:solidFill>
                  <a:srgbClr val="1B9AAA"/>
                </a:solidFill>
                <a:latin typeface="Segoe UI"/>
              </a:rPr>
              <a:t>▶  </a:t>
            </a:r>
            <a:r>
              <a:rPr sz="1700" b="0" i="0" dirty="0">
                <a:solidFill>
                  <a:srgbClr val="1A1A1A"/>
                </a:solidFill>
                <a:latin typeface="Segoe UI"/>
              </a:rPr>
              <a:t>When VRAM fills, today's engines discard agent context and recompute from scratch.</a:t>
            </a:r>
          </a:p>
          <a:p>
            <a:pPr algn="l">
              <a:lnSpc>
                <a:spcPct val="115000"/>
              </a:lnSpc>
              <a:spcAft>
                <a:spcPts val="1800"/>
              </a:spcAft>
            </a:pPr>
            <a:r>
              <a:rPr sz="1600" b="1" i="0" dirty="0">
                <a:solidFill>
                  <a:srgbClr val="1B9AAA"/>
                </a:solidFill>
                <a:latin typeface="Segoe UI"/>
              </a:rPr>
              <a:t>▶  </a:t>
            </a:r>
            <a:r>
              <a:rPr sz="1700" b="0" i="0" dirty="0">
                <a:solidFill>
                  <a:srgbClr val="1A1A1A"/>
                </a:solidFill>
                <a:latin typeface="Segoe UI"/>
              </a:rPr>
              <a:t>Recompute cost: 1–2 seconds of latency on every single wake-up.</a:t>
            </a:r>
          </a:p>
          <a:p>
            <a:pPr algn="l">
              <a:lnSpc>
                <a:spcPct val="115000"/>
              </a:lnSpc>
              <a:spcAft>
                <a:spcPts val="1800"/>
              </a:spcAft>
            </a:pPr>
            <a:r>
              <a:rPr sz="1600" b="1" i="0" dirty="0">
                <a:solidFill>
                  <a:srgbClr val="1B9AAA"/>
                </a:solidFill>
                <a:latin typeface="Segoe UI"/>
              </a:rPr>
              <a:t>▶  </a:t>
            </a:r>
            <a:r>
              <a:rPr sz="1700" b="0" i="0" dirty="0">
                <a:solidFill>
                  <a:srgbClr val="1A1A1A"/>
                </a:solidFill>
                <a:latin typeface="Segoe UI"/>
              </a:rPr>
              <a:t>Result: low agent density, slow resumes, high cost.</a:t>
            </a:r>
          </a:p>
        </p:txBody>
      </p:sp>
      <p:sp>
        <p:nvSpPr>
          <p:cNvPr id="7" name="Rectangle 6"/>
          <p:cNvSpPr/>
          <p:nvPr/>
        </p:nvSpPr>
        <p:spPr>
          <a:xfrm>
            <a:off x="7680960" y="1828800"/>
            <a:ext cx="3840480" cy="31089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63840" y="2148840"/>
            <a:ext cx="3474720" cy="2743200"/>
          </a:xfrm>
          <a:prstGeom prst="rect">
            <a:avLst/>
          </a:prstGeom>
          <a:noFill/>
        </p:spPr>
        <p:txBody>
          <a:bodyPr wrap="square" anchor="ctr">
            <a:spAutoFit/>
          </a:bodyPr>
          <a:lstStyle/>
          <a:p>
            <a:pPr algn="ctr">
              <a:lnSpc>
                <a:spcPct val="100000"/>
              </a:lnSpc>
              <a:spcAft>
                <a:spcPts val="600"/>
              </a:spcAft>
            </a:pPr>
            <a:r>
              <a:rPr sz="5400" b="1" i="0" dirty="0">
                <a:solidFill>
                  <a:srgbClr val="F49D37"/>
                </a:solidFill>
                <a:latin typeface="Segoe UI"/>
              </a:rPr>
              <a:t>1–2 s</a:t>
            </a:r>
          </a:p>
          <a:p>
            <a:pPr algn="ctr">
              <a:lnSpc>
                <a:spcPct val="100000"/>
              </a:lnSpc>
              <a:spcAft>
                <a:spcPts val="600"/>
              </a:spcAft>
            </a:pPr>
            <a:r>
              <a:rPr sz="1600" b="0" i="0" dirty="0">
                <a:solidFill>
                  <a:srgbClr val="FFFFFF"/>
                </a:solidFill>
                <a:latin typeface="Segoe UI"/>
              </a:rPr>
              <a:t>wasted on every</a:t>
            </a:r>
          </a:p>
          <a:p>
            <a:pPr algn="ctr">
              <a:lnSpc>
                <a:spcPct val="100000"/>
              </a:lnSpc>
              <a:spcAft>
                <a:spcPts val="600"/>
              </a:spcAft>
            </a:pPr>
            <a:r>
              <a:rPr sz="1600" b="0" i="0" dirty="0">
                <a:solidFill>
                  <a:srgbClr val="FFFFFF"/>
                </a:solidFill>
                <a:latin typeface="Segoe UI"/>
              </a:rPr>
              <a:t>agent resume</a:t>
            </a:r>
          </a:p>
          <a:p>
            <a:pPr algn="ctr">
              <a:lnSpc>
                <a:spcPct val="100000"/>
              </a:lnSpc>
              <a:spcAft>
                <a:spcPts val="600"/>
              </a:spcAft>
            </a:pPr>
            <a:endParaRPr sz="1600" b="0" i="0" dirty="0">
              <a:solidFill>
                <a:srgbClr val="FFFFFF"/>
              </a:solidFill>
              <a:latin typeface="Segoe UI"/>
            </a:endParaRPr>
          </a:p>
          <a:p>
            <a:pPr algn="ctr">
              <a:lnSpc>
                <a:spcPct val="100000"/>
              </a:lnSpc>
              <a:spcAft>
                <a:spcPts val="600"/>
              </a:spcAft>
            </a:pPr>
            <a:r>
              <a:rPr sz="2200" b="1" i="0" dirty="0">
                <a:solidFill>
                  <a:srgbClr val="D7263D"/>
                </a:solidFill>
                <a:latin typeface="Segoe UI"/>
              </a:rPr>
              <a:t>0 of 50 agents</a:t>
            </a:r>
          </a:p>
          <a:p>
            <a:pPr algn="ctr">
              <a:lnSpc>
                <a:spcPct val="100000"/>
              </a:lnSpc>
              <a:spcAft>
                <a:spcPts val="600"/>
              </a:spcAft>
            </a:pPr>
            <a:r>
              <a:rPr sz="1400" b="0" i="0" dirty="0">
                <a:solidFill>
                  <a:srgbClr val="F4F7F9"/>
                </a:solidFill>
                <a:latin typeface="Segoe UI"/>
              </a:rPr>
              <a:t>meet a 200 </a:t>
            </a:r>
            <a:r>
              <a:rPr sz="1400" b="0" i="0" dirty="0" err="1">
                <a:solidFill>
                  <a:srgbClr val="F4F7F9"/>
                </a:solidFill>
                <a:latin typeface="Segoe UI"/>
              </a:rPr>
              <a:t>ms</a:t>
            </a:r>
            <a:r>
              <a:rPr sz="1400" b="0" i="0" dirty="0">
                <a:solidFill>
                  <a:srgbClr val="F4F7F9"/>
                </a:solidFill>
                <a:latin typeface="Segoe UI"/>
              </a:rPr>
              <a:t> SLA today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WHY NOW</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The bottleneck isn't compute — it's memory management</a:t>
            </a:r>
          </a:p>
        </p:txBody>
      </p:sp>
      <p:sp>
        <p:nvSpPr>
          <p:cNvPr id="6" name="TextBox 5"/>
          <p:cNvSpPr txBox="1"/>
          <p:nvPr/>
        </p:nvSpPr>
        <p:spPr>
          <a:xfrm>
            <a:off x="640080" y="1783080"/>
            <a:ext cx="10972800" cy="731520"/>
          </a:xfrm>
          <a:prstGeom prst="rect">
            <a:avLst/>
          </a:prstGeom>
          <a:noFill/>
        </p:spPr>
        <p:txBody>
          <a:bodyPr wrap="square" anchor="t">
            <a:spAutoFit/>
          </a:bodyPr>
          <a:lstStyle/>
          <a:p>
            <a:pPr algn="l">
              <a:lnSpc>
                <a:spcPct val="110000"/>
              </a:lnSpc>
              <a:spcAft>
                <a:spcPts val="600"/>
              </a:spcAft>
            </a:pPr>
            <a:r>
              <a:rPr sz="1800" b="1" i="0">
                <a:solidFill>
                  <a:srgbClr val="0B1F3A"/>
                </a:solidFill>
                <a:latin typeface="Segoe UI"/>
              </a:rPr>
              <a:t>The bottleneck in agentic AI is the absence of a memory layer built for agent persistence.</a:t>
            </a:r>
          </a:p>
        </p:txBody>
      </p:sp>
      <p:sp>
        <p:nvSpPr>
          <p:cNvPr id="7" name="Rectangle 6"/>
          <p:cNvSpPr/>
          <p:nvPr/>
        </p:nvSpPr>
        <p:spPr>
          <a:xfrm>
            <a:off x="640080" y="2743200"/>
            <a:ext cx="3520440" cy="246888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743200"/>
            <a:ext cx="3520440" cy="91440"/>
          </a:xfrm>
          <a:prstGeom prst="rect">
            <a:avLst/>
          </a:prstGeom>
          <a:solidFill>
            <a:srgbClr val="F49D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999232"/>
            <a:ext cx="3520440" cy="777240"/>
          </a:xfrm>
          <a:prstGeom prst="rect">
            <a:avLst/>
          </a:prstGeom>
          <a:noFill/>
        </p:spPr>
        <p:txBody>
          <a:bodyPr wrap="square" anchor="ctr">
            <a:spAutoFit/>
          </a:bodyPr>
          <a:lstStyle/>
          <a:p>
            <a:pPr algn="ctr">
              <a:lnSpc>
                <a:spcPct val="100000"/>
              </a:lnSpc>
              <a:spcAft>
                <a:spcPts val="600"/>
              </a:spcAft>
            </a:pPr>
            <a:r>
              <a:rPr sz="3400" b="1" i="0">
                <a:solidFill>
                  <a:srgbClr val="F49D37"/>
                </a:solidFill>
                <a:latin typeface="Segoe UI"/>
              </a:rPr>
              <a:t>75–98%</a:t>
            </a:r>
          </a:p>
        </p:txBody>
      </p:sp>
      <p:sp>
        <p:nvSpPr>
          <p:cNvPr id="10" name="TextBox 9"/>
          <p:cNvSpPr txBox="1"/>
          <p:nvPr/>
        </p:nvSpPr>
        <p:spPr>
          <a:xfrm>
            <a:off x="640080" y="4343400"/>
            <a:ext cx="3520440" cy="777240"/>
          </a:xfrm>
          <a:prstGeom prst="rect">
            <a:avLst/>
          </a:prstGeom>
          <a:noFill/>
        </p:spPr>
        <p:txBody>
          <a:bodyPr wrap="square" anchor="t">
            <a:spAutoFit/>
          </a:bodyPr>
          <a:lstStyle/>
          <a:p>
            <a:pPr algn="ctr">
              <a:lnSpc>
                <a:spcPct val="100000"/>
              </a:lnSpc>
              <a:spcAft>
                <a:spcPts val="600"/>
              </a:spcAft>
            </a:pPr>
            <a:r>
              <a:rPr sz="1250" b="0" i="0">
                <a:solidFill>
                  <a:srgbClr val="555F6B"/>
                </a:solidFill>
                <a:latin typeface="Segoe UI"/>
              </a:rPr>
              <a:t>of an agent's life is spent idle
(waiting on humans, tools, CI)</a:t>
            </a:r>
          </a:p>
        </p:txBody>
      </p:sp>
      <p:sp>
        <p:nvSpPr>
          <p:cNvPr id="11" name="Rectangle 10"/>
          <p:cNvSpPr/>
          <p:nvPr/>
        </p:nvSpPr>
        <p:spPr>
          <a:xfrm>
            <a:off x="4389119" y="2743200"/>
            <a:ext cx="3520440" cy="246888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19" y="2743200"/>
            <a:ext cx="3520440"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19" y="2999232"/>
            <a:ext cx="3520440" cy="777240"/>
          </a:xfrm>
          <a:prstGeom prst="rect">
            <a:avLst/>
          </a:prstGeom>
          <a:noFill/>
        </p:spPr>
        <p:txBody>
          <a:bodyPr wrap="square" anchor="ctr">
            <a:spAutoFit/>
          </a:bodyPr>
          <a:lstStyle/>
          <a:p>
            <a:pPr algn="ctr">
              <a:lnSpc>
                <a:spcPct val="100000"/>
              </a:lnSpc>
              <a:spcAft>
                <a:spcPts val="600"/>
              </a:spcAft>
            </a:pPr>
            <a:r>
              <a:rPr sz="3400" b="1" i="0">
                <a:solidFill>
                  <a:srgbClr val="1B9AAA"/>
                </a:solidFill>
                <a:latin typeface="Segoe UI"/>
              </a:rPr>
              <a:t>100s</a:t>
            </a:r>
          </a:p>
        </p:txBody>
      </p:sp>
      <p:sp>
        <p:nvSpPr>
          <p:cNvPr id="14" name="TextBox 13"/>
          <p:cNvSpPr txBox="1"/>
          <p:nvPr/>
        </p:nvSpPr>
        <p:spPr>
          <a:xfrm>
            <a:off x="4389119" y="4343400"/>
            <a:ext cx="3520440" cy="777240"/>
          </a:xfrm>
          <a:prstGeom prst="rect">
            <a:avLst/>
          </a:prstGeom>
          <a:noFill/>
        </p:spPr>
        <p:txBody>
          <a:bodyPr wrap="square" anchor="t">
            <a:spAutoFit/>
          </a:bodyPr>
          <a:lstStyle/>
          <a:p>
            <a:pPr algn="ctr">
              <a:lnSpc>
                <a:spcPct val="100000"/>
              </a:lnSpc>
              <a:spcAft>
                <a:spcPts val="600"/>
              </a:spcAft>
            </a:pPr>
            <a:r>
              <a:rPr sz="1250" b="0" i="0">
                <a:solidFill>
                  <a:srgbClr val="555F6B"/>
                </a:solidFill>
                <a:latin typeface="Segoe UI"/>
              </a:rPr>
              <a:t>of concurrent agents enterprises
want — not six</a:t>
            </a:r>
          </a:p>
        </p:txBody>
      </p:sp>
      <p:sp>
        <p:nvSpPr>
          <p:cNvPr id="15" name="Rectangle 14"/>
          <p:cNvSpPr/>
          <p:nvPr/>
        </p:nvSpPr>
        <p:spPr>
          <a:xfrm>
            <a:off x="8138158" y="2743200"/>
            <a:ext cx="3520440" cy="246888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58" y="2743200"/>
            <a:ext cx="3520440" cy="91440"/>
          </a:xfrm>
          <a:prstGeom prst="rect">
            <a:avLst/>
          </a:prstGeom>
          <a:solidFill>
            <a:srgbClr val="0B6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38158" y="2999232"/>
            <a:ext cx="3520440" cy="777240"/>
          </a:xfrm>
          <a:prstGeom prst="rect">
            <a:avLst/>
          </a:prstGeom>
          <a:noFill/>
        </p:spPr>
        <p:txBody>
          <a:bodyPr wrap="square" anchor="ctr">
            <a:spAutoFit/>
          </a:bodyPr>
          <a:lstStyle/>
          <a:p>
            <a:pPr algn="ctr">
              <a:lnSpc>
                <a:spcPct val="100000"/>
              </a:lnSpc>
              <a:spcAft>
                <a:spcPts val="600"/>
              </a:spcAft>
            </a:pPr>
            <a:r>
              <a:rPr sz="3400" b="1" i="0">
                <a:solidFill>
                  <a:srgbClr val="0B6E7A"/>
                </a:solidFill>
                <a:latin typeface="Segoe UI"/>
              </a:rPr>
              <a:t>2024–26</a:t>
            </a:r>
          </a:p>
        </p:txBody>
      </p:sp>
      <p:sp>
        <p:nvSpPr>
          <p:cNvPr id="18" name="TextBox 17"/>
          <p:cNvSpPr txBox="1"/>
          <p:nvPr/>
        </p:nvSpPr>
        <p:spPr>
          <a:xfrm>
            <a:off x="8138158" y="4343400"/>
            <a:ext cx="3520440" cy="777240"/>
          </a:xfrm>
          <a:prstGeom prst="rect">
            <a:avLst/>
          </a:prstGeom>
          <a:noFill/>
        </p:spPr>
        <p:txBody>
          <a:bodyPr wrap="square" anchor="t">
            <a:spAutoFit/>
          </a:bodyPr>
          <a:lstStyle/>
          <a:p>
            <a:pPr algn="ctr">
              <a:lnSpc>
                <a:spcPct val="100000"/>
              </a:lnSpc>
              <a:spcAft>
                <a:spcPts val="600"/>
              </a:spcAft>
            </a:pPr>
            <a:r>
              <a:rPr sz="1250" b="0" i="0">
                <a:solidFill>
                  <a:srgbClr val="555F6B"/>
                </a:solidFill>
                <a:latin typeface="Segoe UI"/>
              </a:rPr>
              <a:t>shift from stateless chat to
persistent, long-running agents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THE INSIGHT</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Agents are processes. KV-cache is virtual memory.</a:t>
            </a:r>
          </a:p>
        </p:txBody>
      </p:sp>
      <p:graphicFrame>
        <p:nvGraphicFramePr>
          <p:cNvPr id="6" name="Table 5"/>
          <p:cNvGraphicFramePr>
            <a:graphicFrameLocks noGrp="1"/>
          </p:cNvGraphicFramePr>
          <p:nvPr/>
        </p:nvGraphicFramePr>
        <p:xfrm>
          <a:off x="640080" y="1828800"/>
          <a:ext cx="6766560" cy="329184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548640">
                <a:tc>
                  <a:txBody>
                    <a:bodyPr/>
                    <a:lstStyle/>
                    <a:p>
                      <a:pPr algn="l"/>
                      <a:r>
                        <a:rPr sz="1400" b="1">
                          <a:solidFill>
                            <a:srgbClr val="FFFFFF"/>
                          </a:solidFill>
                          <a:latin typeface="Segoe UI"/>
                        </a:rPr>
                        <a:t>Operating System</a:t>
                      </a:r>
                    </a:p>
                  </a:txBody>
                  <a:tcPr>
                    <a:solidFill>
                      <a:srgbClr val="0B1F3A"/>
                    </a:solidFill>
                  </a:tcPr>
                </a:tc>
                <a:tc>
                  <a:txBody>
                    <a:bodyPr/>
                    <a:lstStyle/>
                    <a:p>
                      <a:pPr algn="ctr"/>
                      <a:r>
                        <a:rPr sz="1400" b="1">
                          <a:solidFill>
                            <a:srgbClr val="FFFFFF"/>
                          </a:solidFill>
                          <a:latin typeface="Segoe UI"/>
                        </a:rPr>
                        <a:t>Nemorix</a:t>
                      </a:r>
                    </a:p>
                  </a:txBody>
                  <a:tcPr>
                    <a:solidFill>
                      <a:srgbClr val="0B1F3A"/>
                    </a:solidFill>
                  </a:tcPr>
                </a:tc>
                <a:extLst>
                  <a:ext uri="{0D108BD9-81ED-4DB2-BD59-A6C34878D82A}">
                    <a16:rowId xmlns:a16="http://schemas.microsoft.com/office/drawing/2014/main" val="10000"/>
                  </a:ext>
                </a:extLst>
              </a:tr>
              <a:tr h="548640">
                <a:tc>
                  <a:txBody>
                    <a:bodyPr/>
                    <a:lstStyle/>
                    <a:p>
                      <a:pPr algn="l"/>
                      <a:r>
                        <a:rPr sz="1400">
                          <a:solidFill>
                            <a:srgbClr val="1A1A1A"/>
                          </a:solidFill>
                          <a:latin typeface="Segoe UI"/>
                        </a:rPr>
                        <a:t>Process</a:t>
                      </a:r>
                    </a:p>
                  </a:txBody>
                  <a:tcPr>
                    <a:solidFill>
                      <a:srgbClr val="FFFFFF"/>
                    </a:solidFill>
                  </a:tcPr>
                </a:tc>
                <a:tc>
                  <a:txBody>
                    <a:bodyPr/>
                    <a:lstStyle/>
                    <a:p>
                      <a:pPr algn="ctr"/>
                      <a:r>
                        <a:rPr sz="1400" b="1">
                          <a:solidFill>
                            <a:srgbClr val="0B6E7A"/>
                          </a:solidFill>
                          <a:latin typeface="Segoe UI"/>
                        </a:rPr>
                        <a:t>AI agent</a:t>
                      </a:r>
                    </a:p>
                  </a:txBody>
                  <a:tcPr>
                    <a:solidFill>
                      <a:srgbClr val="FFFFFF"/>
                    </a:solidFill>
                  </a:tcPr>
                </a:tc>
                <a:extLst>
                  <a:ext uri="{0D108BD9-81ED-4DB2-BD59-A6C34878D82A}">
                    <a16:rowId xmlns:a16="http://schemas.microsoft.com/office/drawing/2014/main" val="10001"/>
                  </a:ext>
                </a:extLst>
              </a:tr>
              <a:tr h="548640">
                <a:tc>
                  <a:txBody>
                    <a:bodyPr/>
                    <a:lstStyle/>
                    <a:p>
                      <a:pPr algn="l"/>
                      <a:r>
                        <a:rPr sz="1400">
                          <a:solidFill>
                            <a:srgbClr val="1A1A1A"/>
                          </a:solidFill>
                          <a:latin typeface="Segoe UI"/>
                        </a:rPr>
                        <a:t>RAM (fast, small)</a:t>
                      </a:r>
                    </a:p>
                  </a:txBody>
                  <a:tcPr>
                    <a:solidFill>
                      <a:srgbClr val="F4F7F9"/>
                    </a:solidFill>
                  </a:tcPr>
                </a:tc>
                <a:tc>
                  <a:txBody>
                    <a:bodyPr/>
                    <a:lstStyle/>
                    <a:p>
                      <a:pPr algn="ctr"/>
                      <a:r>
                        <a:rPr sz="1400" b="1">
                          <a:solidFill>
                            <a:srgbClr val="0B6E7A"/>
                          </a:solidFill>
                          <a:latin typeface="Segoe UI"/>
                        </a:rPr>
                        <a:t>GPU VRAM</a:t>
                      </a:r>
                    </a:p>
                  </a:txBody>
                  <a:tcPr>
                    <a:solidFill>
                      <a:srgbClr val="F4F7F9"/>
                    </a:solidFill>
                  </a:tcPr>
                </a:tc>
                <a:extLst>
                  <a:ext uri="{0D108BD9-81ED-4DB2-BD59-A6C34878D82A}">
                    <a16:rowId xmlns:a16="http://schemas.microsoft.com/office/drawing/2014/main" val="10002"/>
                  </a:ext>
                </a:extLst>
              </a:tr>
              <a:tr h="548640">
                <a:tc>
                  <a:txBody>
                    <a:bodyPr/>
                    <a:lstStyle/>
                    <a:p>
                      <a:pPr algn="l"/>
                      <a:r>
                        <a:rPr sz="1400">
                          <a:solidFill>
                            <a:srgbClr val="1A1A1A"/>
                          </a:solidFill>
                          <a:latin typeface="Segoe UI"/>
                        </a:rPr>
                        <a:t>Swap / disk (slow, big)</a:t>
                      </a:r>
                    </a:p>
                  </a:txBody>
                  <a:tcPr>
                    <a:solidFill>
                      <a:srgbClr val="FFFFFF"/>
                    </a:solidFill>
                  </a:tcPr>
                </a:tc>
                <a:tc>
                  <a:txBody>
                    <a:bodyPr/>
                    <a:lstStyle/>
                    <a:p>
                      <a:pPr algn="ctr"/>
                      <a:r>
                        <a:rPr sz="1400" b="1">
                          <a:solidFill>
                            <a:srgbClr val="0B6E7A"/>
                          </a:solidFill>
                          <a:latin typeface="Segoe UI"/>
                        </a:rPr>
                        <a:t>CXL → RAM → SSD</a:t>
                      </a:r>
                    </a:p>
                  </a:txBody>
                  <a:tcPr>
                    <a:solidFill>
                      <a:srgbClr val="FFFFFF"/>
                    </a:solidFill>
                  </a:tcPr>
                </a:tc>
                <a:extLst>
                  <a:ext uri="{0D108BD9-81ED-4DB2-BD59-A6C34878D82A}">
                    <a16:rowId xmlns:a16="http://schemas.microsoft.com/office/drawing/2014/main" val="10003"/>
                  </a:ext>
                </a:extLst>
              </a:tr>
              <a:tr h="548640">
                <a:tc>
                  <a:txBody>
                    <a:bodyPr/>
                    <a:lstStyle/>
                    <a:p>
                      <a:pPr algn="l"/>
                      <a:r>
                        <a:rPr sz="1400">
                          <a:solidFill>
                            <a:srgbClr val="1A1A1A"/>
                          </a:solidFill>
                          <a:latin typeface="Segoe UI"/>
                        </a:rPr>
                        <a:t>Page fault</a:t>
                      </a:r>
                    </a:p>
                  </a:txBody>
                  <a:tcPr>
                    <a:solidFill>
                      <a:srgbClr val="F4F7F9"/>
                    </a:solidFill>
                  </a:tcPr>
                </a:tc>
                <a:tc>
                  <a:txBody>
                    <a:bodyPr/>
                    <a:lstStyle/>
                    <a:p>
                      <a:pPr algn="ctr"/>
                      <a:r>
                        <a:rPr sz="1400" b="1">
                          <a:solidFill>
                            <a:srgbClr val="0B6E7A"/>
                          </a:solidFill>
                          <a:latin typeface="Segoe UI"/>
                        </a:rPr>
                        <a:t>Agent wakes, cache not in GPU</a:t>
                      </a:r>
                    </a:p>
                  </a:txBody>
                  <a:tcPr>
                    <a:solidFill>
                      <a:srgbClr val="F4F7F9"/>
                    </a:solidFill>
                  </a:tcPr>
                </a:tc>
                <a:extLst>
                  <a:ext uri="{0D108BD9-81ED-4DB2-BD59-A6C34878D82A}">
                    <a16:rowId xmlns:a16="http://schemas.microsoft.com/office/drawing/2014/main" val="10004"/>
                  </a:ext>
                </a:extLst>
              </a:tr>
              <a:tr h="548640">
                <a:tc>
                  <a:txBody>
                    <a:bodyPr/>
                    <a:lstStyle/>
                    <a:p>
                      <a:pPr algn="l"/>
                      <a:r>
                        <a:rPr sz="1400">
                          <a:solidFill>
                            <a:srgbClr val="1A1A1A"/>
                          </a:solidFill>
                          <a:latin typeface="Segoe UI"/>
                        </a:rPr>
                        <a:t>Page replacement (LRU)</a:t>
                      </a:r>
                    </a:p>
                  </a:txBody>
                  <a:tcPr>
                    <a:solidFill>
                      <a:srgbClr val="FFFFFF"/>
                    </a:solidFill>
                  </a:tcPr>
                </a:tc>
                <a:tc>
                  <a:txBody>
                    <a:bodyPr/>
                    <a:lstStyle/>
                    <a:p>
                      <a:pPr algn="ctr"/>
                      <a:r>
                        <a:rPr sz="1400" b="1">
                          <a:solidFill>
                            <a:srgbClr val="0B6E7A"/>
                          </a:solidFill>
                          <a:latin typeface="Segoe UI"/>
                        </a:rPr>
                        <a:t>Semantic eviction</a:t>
                      </a:r>
                    </a:p>
                  </a:txBody>
                  <a:tcP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772400" y="1828800"/>
            <a:ext cx="3749039" cy="32918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79" y="2194560"/>
            <a:ext cx="3383280" cy="2651760"/>
          </a:xfrm>
          <a:prstGeom prst="rect">
            <a:avLst/>
          </a:prstGeom>
          <a:noFill/>
        </p:spPr>
        <p:txBody>
          <a:bodyPr wrap="square" anchor="ctr">
            <a:spAutoFit/>
          </a:bodyPr>
          <a:lstStyle/>
          <a:p>
            <a:pPr algn="ctr">
              <a:lnSpc>
                <a:spcPct val="105000"/>
              </a:lnSpc>
              <a:spcAft>
                <a:spcPts val="600"/>
              </a:spcAft>
            </a:pPr>
            <a:r>
              <a:rPr sz="3000" b="1" i="0">
                <a:solidFill>
                  <a:srgbClr val="FFFFFF"/>
                </a:solidFill>
                <a:latin typeface="Segoe UI"/>
              </a:rPr>
              <a:t>Page it,</a:t>
            </a:r>
          </a:p>
          <a:p>
            <a:pPr algn="ctr">
              <a:lnSpc>
                <a:spcPct val="105000"/>
              </a:lnSpc>
              <a:spcAft>
                <a:spcPts val="600"/>
              </a:spcAft>
            </a:pPr>
            <a:r>
              <a:rPr sz="3000" b="1" i="0">
                <a:solidFill>
                  <a:srgbClr val="FFFFFF"/>
                </a:solidFill>
                <a:latin typeface="Segoe UI"/>
              </a:rPr>
              <a:t>don't delete it.</a:t>
            </a:r>
          </a:p>
          <a:p>
            <a:pPr algn="ctr">
              <a:lnSpc>
                <a:spcPct val="105000"/>
              </a:lnSpc>
              <a:spcAft>
                <a:spcPts val="600"/>
              </a:spcAft>
            </a:pPr>
            <a:endParaRPr sz="3000" b="1" i="0">
              <a:solidFill>
                <a:srgbClr val="FFFFFF"/>
              </a:solidFill>
              <a:latin typeface="Segoe UI"/>
            </a:endParaRPr>
          </a:p>
          <a:p>
            <a:pPr algn="ctr">
              <a:lnSpc>
                <a:spcPct val="105000"/>
              </a:lnSpc>
              <a:spcAft>
                <a:spcPts val="600"/>
              </a:spcAft>
            </a:pPr>
            <a:r>
              <a:rPr sz="1400" b="0" i="0">
                <a:solidFill>
                  <a:srgbClr val="F4F7F9"/>
                </a:solidFill>
                <a:latin typeface="Segoe UI"/>
              </a:rPr>
              <a:t>60 years of proven OS theory, applied to AI agents for the first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THE SOLUTION</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A 4-tier memory runtime for agent KV-cache</a:t>
            </a:r>
          </a:p>
        </p:txBody>
      </p:sp>
      <p:pic>
        <p:nvPicPr>
          <p:cNvPr id="6" name="Picture 5" descr="chart_tiers.png"/>
          <p:cNvPicPr>
            <a:picLocks noChangeAspect="1"/>
          </p:cNvPicPr>
          <p:nvPr/>
        </p:nvPicPr>
        <p:blipFill>
          <a:blip r:embed="rId3"/>
          <a:stretch>
            <a:fillRect/>
          </a:stretch>
        </p:blipFill>
        <p:spPr>
          <a:xfrm>
            <a:off x="457200" y="1783080"/>
            <a:ext cx="6766560" cy="4827755"/>
          </a:xfrm>
          <a:prstGeom prst="rect">
            <a:avLst/>
          </a:prstGeom>
        </p:spPr>
      </p:pic>
      <p:sp>
        <p:nvSpPr>
          <p:cNvPr id="7" name="TextBox 6"/>
          <p:cNvSpPr txBox="1"/>
          <p:nvPr/>
        </p:nvSpPr>
        <p:spPr>
          <a:xfrm>
            <a:off x="7406640" y="1874519"/>
            <a:ext cx="4206240" cy="4206240"/>
          </a:xfrm>
          <a:prstGeom prst="rect">
            <a:avLst/>
          </a:prstGeom>
          <a:noFill/>
        </p:spPr>
        <p:txBody>
          <a:bodyPr wrap="square" anchor="t">
            <a:spAutoFit/>
          </a:bodyPr>
          <a:lstStyle/>
          <a:p>
            <a:pPr algn="l">
              <a:lnSpc>
                <a:spcPct val="105000"/>
              </a:lnSpc>
              <a:spcAft>
                <a:spcPts val="400"/>
              </a:spcAft>
            </a:pPr>
            <a:r>
              <a:rPr sz="1600" b="1" i="0">
                <a:solidFill>
                  <a:srgbClr val="0B1F3A"/>
                </a:solidFill>
                <a:latin typeface="Segoe UI"/>
              </a:rPr>
              <a:t>Plus four mechanisms:</a:t>
            </a:r>
          </a:p>
          <a:p>
            <a:pPr algn="l">
              <a:lnSpc>
                <a:spcPct val="105000"/>
              </a:lnSpc>
              <a:spcAft>
                <a:spcPts val="400"/>
              </a:spcAft>
            </a:pPr>
            <a:r>
              <a:rPr sz="1500" b="0" i="0">
                <a:solidFill>
                  <a:srgbClr val="1A1A1A"/>
                </a:solidFill>
                <a:latin typeface="Segoe UI"/>
              </a:rPr>
              <a:t>• Lifecycle scheduling</a:t>
            </a:r>
          </a:p>
          <a:p>
            <a:pPr algn="l">
              <a:lnSpc>
                <a:spcPct val="105000"/>
              </a:lnSpc>
              <a:spcAft>
                <a:spcPts val="400"/>
              </a:spcAft>
            </a:pPr>
            <a:r>
              <a:rPr sz="1200" b="0" i="0">
                <a:solidFill>
                  <a:srgbClr val="555F6B"/>
                </a:solidFill>
                <a:latin typeface="Segoe UI"/>
              </a:rPr>
              <a:t>   move idle agents down proactively</a:t>
            </a:r>
          </a:p>
          <a:p>
            <a:pPr algn="l">
              <a:lnSpc>
                <a:spcPct val="105000"/>
              </a:lnSpc>
              <a:spcAft>
                <a:spcPts val="400"/>
              </a:spcAft>
            </a:pPr>
            <a:r>
              <a:rPr sz="1500" b="0" i="0">
                <a:solidFill>
                  <a:srgbClr val="1A1A1A"/>
                </a:solidFill>
                <a:latin typeface="Segoe UI"/>
              </a:rPr>
              <a:t>• Semantic eviction</a:t>
            </a:r>
          </a:p>
          <a:p>
            <a:pPr algn="l">
              <a:lnSpc>
                <a:spcPct val="105000"/>
              </a:lnSpc>
              <a:spcAft>
                <a:spcPts val="400"/>
              </a:spcAft>
            </a:pPr>
            <a:r>
              <a:rPr sz="1200" b="0" i="0">
                <a:solidFill>
                  <a:srgbClr val="555F6B"/>
                </a:solidFill>
                <a:latin typeface="Segoe UI"/>
              </a:rPr>
              <a:t>   keep what matters most</a:t>
            </a:r>
          </a:p>
          <a:p>
            <a:pPr algn="l">
              <a:lnSpc>
                <a:spcPct val="105000"/>
              </a:lnSpc>
              <a:spcAft>
                <a:spcPts val="400"/>
              </a:spcAft>
            </a:pPr>
            <a:r>
              <a:rPr sz="1500" b="0" i="0">
                <a:solidFill>
                  <a:srgbClr val="1A1A1A"/>
                </a:solidFill>
                <a:latin typeface="Segoe UI"/>
              </a:rPr>
              <a:t>• Progressive page-in</a:t>
            </a:r>
          </a:p>
          <a:p>
            <a:pPr algn="l">
              <a:lnSpc>
                <a:spcPct val="105000"/>
              </a:lnSpc>
              <a:spcAft>
                <a:spcPts val="400"/>
              </a:spcAft>
            </a:pPr>
            <a:r>
              <a:rPr sz="1200" b="0" i="0">
                <a:solidFill>
                  <a:srgbClr val="555F6B"/>
                </a:solidFill>
                <a:latin typeface="Segoe UI"/>
              </a:rPr>
              <a:t>   load first layers, stream the rest</a:t>
            </a:r>
          </a:p>
          <a:p>
            <a:pPr algn="l">
              <a:lnSpc>
                <a:spcPct val="105000"/>
              </a:lnSpc>
              <a:spcAft>
                <a:spcPts val="400"/>
              </a:spcAft>
            </a:pPr>
            <a:r>
              <a:rPr sz="1500" b="0" i="0">
                <a:solidFill>
                  <a:srgbClr val="1A1A1A"/>
                </a:solidFill>
                <a:latin typeface="Segoe UI"/>
              </a:rPr>
              <a:t>• Compression FP16→FP8→INT4</a:t>
            </a:r>
          </a:p>
          <a:p>
            <a:pPr algn="l">
              <a:lnSpc>
                <a:spcPct val="105000"/>
              </a:lnSpc>
              <a:spcAft>
                <a:spcPts val="400"/>
              </a:spcAft>
            </a:pPr>
            <a:r>
              <a:rPr sz="1200" b="0" i="0">
                <a:solidFill>
                  <a:srgbClr val="555F6B"/>
                </a:solidFill>
                <a:latin typeface="Segoe UI"/>
              </a:rPr>
              <a:t>   per-tier, &lt;1.8% quality loss</a:t>
            </a:r>
          </a:p>
          <a:p>
            <a:pPr algn="l">
              <a:lnSpc>
                <a:spcPct val="105000"/>
              </a:lnSpc>
              <a:spcAft>
                <a:spcPts val="400"/>
              </a:spcAft>
            </a:pPr>
            <a:endParaRPr sz="1200" b="0" i="0">
              <a:solidFill>
                <a:srgbClr val="555F6B"/>
              </a:solidFill>
              <a:latin typeface="Segoe UI"/>
            </a:endParaRPr>
          </a:p>
          <a:p>
            <a:pPr algn="l">
              <a:lnSpc>
                <a:spcPct val="105000"/>
              </a:lnSpc>
              <a:spcAft>
                <a:spcPts val="400"/>
              </a:spcAft>
            </a:pPr>
            <a:r>
              <a:rPr sz="1300" b="1" i="0">
                <a:solidFill>
                  <a:srgbClr val="0B6E7A"/>
                </a:solidFill>
                <a:latin typeface="Segoe UI"/>
              </a:rPr>
              <a:t>CXL is the enabler: 10× cheaper than</a:t>
            </a:r>
          </a:p>
          <a:p>
            <a:pPr algn="l">
              <a:lnSpc>
                <a:spcPct val="105000"/>
              </a:lnSpc>
              <a:spcAft>
                <a:spcPts val="400"/>
              </a:spcAft>
            </a:pPr>
            <a:r>
              <a:rPr sz="1300" b="1" i="0">
                <a:solidFill>
                  <a:srgbClr val="0B6E7A"/>
                </a:solidFill>
                <a:latin typeface="Segoe UI"/>
              </a:rPr>
              <a:t>VRAM, fast enough for &lt;100 ms resume.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THE RESULTS ★</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120× faster resume — verified across 8 seeds</a:t>
            </a:r>
          </a:p>
        </p:txBody>
      </p:sp>
      <p:pic>
        <p:nvPicPr>
          <p:cNvPr id="6" name="Picture 5" descr="chart_resume_latency.png"/>
          <p:cNvPicPr>
            <a:picLocks noChangeAspect="1"/>
          </p:cNvPicPr>
          <p:nvPr/>
        </p:nvPicPr>
        <p:blipFill>
          <a:blip r:embed="rId3"/>
          <a:stretch>
            <a:fillRect/>
          </a:stretch>
        </p:blipFill>
        <p:spPr>
          <a:xfrm>
            <a:off x="457200" y="1783080"/>
            <a:ext cx="6675120" cy="4527645"/>
          </a:xfrm>
          <a:prstGeom prst="rect">
            <a:avLst/>
          </a:prstGeom>
        </p:spPr>
      </p:pic>
      <p:sp>
        <p:nvSpPr>
          <p:cNvPr id="7" name="Rectangle 6"/>
          <p:cNvSpPr/>
          <p:nvPr/>
        </p:nvSpPr>
        <p:spPr>
          <a:xfrm>
            <a:off x="7406640" y="1783080"/>
            <a:ext cx="2057400" cy="155448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406640" y="1783080"/>
            <a:ext cx="2057400"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0" y="2039112"/>
            <a:ext cx="2057400" cy="777240"/>
          </a:xfrm>
          <a:prstGeom prst="rect">
            <a:avLst/>
          </a:prstGeom>
          <a:noFill/>
        </p:spPr>
        <p:txBody>
          <a:bodyPr wrap="square" anchor="ctr">
            <a:spAutoFit/>
          </a:bodyPr>
          <a:lstStyle/>
          <a:p>
            <a:pPr algn="ctr">
              <a:lnSpc>
                <a:spcPct val="100000"/>
              </a:lnSpc>
              <a:spcAft>
                <a:spcPts val="600"/>
              </a:spcAft>
            </a:pPr>
            <a:r>
              <a:rPr sz="3400" b="1" i="0">
                <a:solidFill>
                  <a:srgbClr val="1B9AAA"/>
                </a:solidFill>
                <a:latin typeface="Segoe UI"/>
              </a:rPr>
              <a:t>120×</a:t>
            </a:r>
          </a:p>
        </p:txBody>
      </p:sp>
      <p:sp>
        <p:nvSpPr>
          <p:cNvPr id="10" name="TextBox 9"/>
          <p:cNvSpPr txBox="1"/>
          <p:nvPr/>
        </p:nvSpPr>
        <p:spPr>
          <a:xfrm>
            <a:off x="7406640" y="2468880"/>
            <a:ext cx="2057400" cy="777240"/>
          </a:xfrm>
          <a:prstGeom prst="rect">
            <a:avLst/>
          </a:prstGeom>
          <a:noFill/>
        </p:spPr>
        <p:txBody>
          <a:bodyPr wrap="square" anchor="t">
            <a:spAutoFit/>
          </a:bodyPr>
          <a:lstStyle/>
          <a:p>
            <a:pPr algn="ctr">
              <a:lnSpc>
                <a:spcPct val="100000"/>
              </a:lnSpc>
              <a:spcAft>
                <a:spcPts val="600"/>
              </a:spcAft>
            </a:pPr>
            <a:r>
              <a:rPr sz="1250" b="0" i="0">
                <a:solidFill>
                  <a:srgbClr val="555F6B"/>
                </a:solidFill>
                <a:latin typeface="Segoe UI"/>
              </a:rPr>
              <a:t>faster resume
(1,151 → 9.5 ms)</a:t>
            </a:r>
          </a:p>
        </p:txBody>
      </p:sp>
      <p:sp>
        <p:nvSpPr>
          <p:cNvPr id="11" name="Rectangle 10"/>
          <p:cNvSpPr/>
          <p:nvPr/>
        </p:nvSpPr>
        <p:spPr>
          <a:xfrm>
            <a:off x="9601200" y="1783080"/>
            <a:ext cx="2057400" cy="155448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601200" y="1783080"/>
            <a:ext cx="2057400" cy="91440"/>
          </a:xfrm>
          <a:prstGeom prst="rect">
            <a:avLst/>
          </a:prstGeom>
          <a:solidFill>
            <a:srgbClr val="0B6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0" y="2039112"/>
            <a:ext cx="2057400" cy="777240"/>
          </a:xfrm>
          <a:prstGeom prst="rect">
            <a:avLst/>
          </a:prstGeom>
          <a:noFill/>
        </p:spPr>
        <p:txBody>
          <a:bodyPr wrap="square" anchor="ctr">
            <a:spAutoFit/>
          </a:bodyPr>
          <a:lstStyle/>
          <a:p>
            <a:pPr algn="ctr">
              <a:lnSpc>
                <a:spcPct val="100000"/>
              </a:lnSpc>
              <a:spcAft>
                <a:spcPts val="600"/>
              </a:spcAft>
            </a:pPr>
            <a:r>
              <a:rPr sz="3400" b="1" i="0">
                <a:solidFill>
                  <a:srgbClr val="0B6E7A"/>
                </a:solidFill>
                <a:latin typeface="Segoe UI"/>
              </a:rPr>
              <a:t>50/50</a:t>
            </a:r>
          </a:p>
        </p:txBody>
      </p:sp>
      <p:sp>
        <p:nvSpPr>
          <p:cNvPr id="14" name="TextBox 13"/>
          <p:cNvSpPr txBox="1"/>
          <p:nvPr/>
        </p:nvSpPr>
        <p:spPr>
          <a:xfrm>
            <a:off x="9601200" y="2468880"/>
            <a:ext cx="2057400" cy="777240"/>
          </a:xfrm>
          <a:prstGeom prst="rect">
            <a:avLst/>
          </a:prstGeom>
          <a:noFill/>
        </p:spPr>
        <p:txBody>
          <a:bodyPr wrap="square" anchor="t">
            <a:spAutoFit/>
          </a:bodyPr>
          <a:lstStyle/>
          <a:p>
            <a:pPr algn="ctr">
              <a:lnSpc>
                <a:spcPct val="100000"/>
              </a:lnSpc>
              <a:spcAft>
                <a:spcPts val="600"/>
              </a:spcAft>
            </a:pPr>
            <a:r>
              <a:rPr sz="1250" b="0" i="0">
                <a:solidFill>
                  <a:srgbClr val="555F6B"/>
                </a:solidFill>
                <a:latin typeface="Segoe UI"/>
              </a:rPr>
              <a:t>agents under SLA
(vs 0/50 today)</a:t>
            </a:r>
          </a:p>
        </p:txBody>
      </p:sp>
      <p:sp>
        <p:nvSpPr>
          <p:cNvPr id="15" name="Rectangle 14"/>
          <p:cNvSpPr/>
          <p:nvPr/>
        </p:nvSpPr>
        <p:spPr>
          <a:xfrm>
            <a:off x="7406640" y="3520440"/>
            <a:ext cx="2057400" cy="155448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406640" y="3520440"/>
            <a:ext cx="2057400" cy="91440"/>
          </a:xfrm>
          <a:prstGeom prst="rect">
            <a:avLst/>
          </a:prstGeom>
          <a:solidFill>
            <a:srgbClr val="F49D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06640" y="3776472"/>
            <a:ext cx="2057400" cy="777240"/>
          </a:xfrm>
          <a:prstGeom prst="rect">
            <a:avLst/>
          </a:prstGeom>
          <a:noFill/>
        </p:spPr>
        <p:txBody>
          <a:bodyPr wrap="square" anchor="ctr">
            <a:spAutoFit/>
          </a:bodyPr>
          <a:lstStyle/>
          <a:p>
            <a:pPr algn="ctr">
              <a:lnSpc>
                <a:spcPct val="100000"/>
              </a:lnSpc>
              <a:spcAft>
                <a:spcPts val="600"/>
              </a:spcAft>
            </a:pPr>
            <a:r>
              <a:rPr sz="3400" b="1" i="0">
                <a:solidFill>
                  <a:srgbClr val="F49D37"/>
                </a:solidFill>
                <a:latin typeface="Segoe UI"/>
              </a:rPr>
              <a:t>~85%</a:t>
            </a:r>
          </a:p>
        </p:txBody>
      </p:sp>
      <p:sp>
        <p:nvSpPr>
          <p:cNvPr id="18" name="TextBox 17"/>
          <p:cNvSpPr txBox="1"/>
          <p:nvPr/>
        </p:nvSpPr>
        <p:spPr>
          <a:xfrm>
            <a:off x="7406640" y="4206240"/>
            <a:ext cx="2057400" cy="777240"/>
          </a:xfrm>
          <a:prstGeom prst="rect">
            <a:avLst/>
          </a:prstGeom>
          <a:noFill/>
        </p:spPr>
        <p:txBody>
          <a:bodyPr wrap="square" anchor="t">
            <a:spAutoFit/>
          </a:bodyPr>
          <a:lstStyle/>
          <a:p>
            <a:pPr algn="ctr">
              <a:lnSpc>
                <a:spcPct val="100000"/>
              </a:lnSpc>
              <a:spcAft>
                <a:spcPts val="600"/>
              </a:spcAft>
            </a:pPr>
            <a:r>
              <a:rPr sz="1250" b="0" i="0">
                <a:solidFill>
                  <a:srgbClr val="555F6B"/>
                </a:solidFill>
                <a:latin typeface="Segoe UI"/>
              </a:rPr>
              <a:t>lower cost
per agent-hour</a:t>
            </a:r>
          </a:p>
        </p:txBody>
      </p:sp>
      <p:sp>
        <p:nvSpPr>
          <p:cNvPr id="19" name="Rectangle 18"/>
          <p:cNvSpPr/>
          <p:nvPr/>
        </p:nvSpPr>
        <p:spPr>
          <a:xfrm>
            <a:off x="9601200" y="3520440"/>
            <a:ext cx="2057400" cy="155448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601200" y="3520440"/>
            <a:ext cx="2057400"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0" y="3776472"/>
            <a:ext cx="2057400" cy="777240"/>
          </a:xfrm>
          <a:prstGeom prst="rect">
            <a:avLst/>
          </a:prstGeom>
          <a:noFill/>
        </p:spPr>
        <p:txBody>
          <a:bodyPr wrap="square" anchor="ctr">
            <a:spAutoFit/>
          </a:bodyPr>
          <a:lstStyle/>
          <a:p>
            <a:pPr algn="ctr">
              <a:lnSpc>
                <a:spcPct val="100000"/>
              </a:lnSpc>
              <a:spcAft>
                <a:spcPts val="600"/>
              </a:spcAft>
            </a:pPr>
            <a:r>
              <a:rPr sz="3400" b="1" i="0">
                <a:solidFill>
                  <a:srgbClr val="1B9AAA"/>
                </a:solidFill>
                <a:latin typeface="Segoe UI"/>
              </a:rPr>
              <a:t>8×</a:t>
            </a:r>
          </a:p>
        </p:txBody>
      </p:sp>
      <p:sp>
        <p:nvSpPr>
          <p:cNvPr id="22" name="TextBox 21"/>
          <p:cNvSpPr txBox="1"/>
          <p:nvPr/>
        </p:nvSpPr>
        <p:spPr>
          <a:xfrm>
            <a:off x="9601200" y="4206240"/>
            <a:ext cx="2057400" cy="777240"/>
          </a:xfrm>
          <a:prstGeom prst="rect">
            <a:avLst/>
          </a:prstGeom>
          <a:noFill/>
        </p:spPr>
        <p:txBody>
          <a:bodyPr wrap="square" anchor="t">
            <a:spAutoFit/>
          </a:bodyPr>
          <a:lstStyle/>
          <a:p>
            <a:pPr algn="ctr">
              <a:lnSpc>
                <a:spcPct val="100000"/>
              </a:lnSpc>
              <a:spcAft>
                <a:spcPts val="600"/>
              </a:spcAft>
            </a:pPr>
            <a:r>
              <a:rPr sz="1250" b="0" i="0">
                <a:solidFill>
                  <a:srgbClr val="555F6B"/>
                </a:solidFill>
                <a:latin typeface="Segoe UI"/>
              </a:rPr>
              <a:t>agent density
(50 vs 6 per GPU)</a:t>
            </a:r>
          </a:p>
        </p:txBody>
      </p:sp>
      <p:sp>
        <p:nvSpPr>
          <p:cNvPr id="23" name="TextBox 22"/>
          <p:cNvSpPr txBox="1"/>
          <p:nvPr/>
        </p:nvSpPr>
        <p:spPr>
          <a:xfrm>
            <a:off x="7406640" y="5257800"/>
            <a:ext cx="4251960" cy="640080"/>
          </a:xfrm>
          <a:prstGeom prst="rect">
            <a:avLst/>
          </a:prstGeom>
          <a:noFill/>
        </p:spPr>
        <p:txBody>
          <a:bodyPr wrap="square" anchor="t">
            <a:spAutoFit/>
          </a:bodyPr>
          <a:lstStyle/>
          <a:p>
            <a:pPr algn="l">
              <a:lnSpc>
                <a:spcPct val="100000"/>
              </a:lnSpc>
              <a:spcAft>
                <a:spcPts val="600"/>
              </a:spcAft>
            </a:pPr>
            <a:r>
              <a:rPr sz="1250" b="0" i="1">
                <a:solidFill>
                  <a:srgbClr val="555F6B"/>
                </a:solidFill>
                <a:latin typeface="Segoe UI"/>
              </a:rPr>
              <a:t>Spread across seeds ≈ 2% — not a cherry-picked result.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THE DIFFERENTIATOR ★</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Semantic eviction wins under pressure</a:t>
            </a:r>
          </a:p>
        </p:txBody>
      </p:sp>
      <p:pic>
        <p:nvPicPr>
          <p:cNvPr id="6" name="Picture 5" descr="chart_scaling.png"/>
          <p:cNvPicPr>
            <a:picLocks noChangeAspect="1"/>
          </p:cNvPicPr>
          <p:nvPr/>
        </p:nvPicPr>
        <p:blipFill>
          <a:blip r:embed="rId3"/>
          <a:stretch>
            <a:fillRect/>
          </a:stretch>
        </p:blipFill>
        <p:spPr>
          <a:xfrm>
            <a:off x="457200" y="1737360"/>
            <a:ext cx="6949440" cy="5410302"/>
          </a:xfrm>
          <a:prstGeom prst="rect">
            <a:avLst/>
          </a:prstGeom>
        </p:spPr>
      </p:pic>
      <p:graphicFrame>
        <p:nvGraphicFramePr>
          <p:cNvPr id="7" name="Table 6"/>
          <p:cNvGraphicFramePr>
            <a:graphicFrameLocks noGrp="1"/>
          </p:cNvGraphicFramePr>
          <p:nvPr/>
        </p:nvGraphicFramePr>
        <p:xfrm>
          <a:off x="7589520" y="2377440"/>
          <a:ext cx="4023360" cy="146304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487680">
                <a:tc>
                  <a:txBody>
                    <a:bodyPr/>
                    <a:lstStyle/>
                    <a:p>
                      <a:pPr algn="l"/>
                      <a:r>
                        <a:rPr sz="1300" b="1">
                          <a:solidFill>
                            <a:srgbClr val="FFFFFF"/>
                          </a:solidFill>
                          <a:latin typeface="Segoe UI"/>
                        </a:rPr>
                        <a:t>Policy @ 500 agents</a:t>
                      </a:r>
                    </a:p>
                  </a:txBody>
                  <a:tcPr>
                    <a:solidFill>
                      <a:srgbClr val="0B1F3A"/>
                    </a:solidFill>
                  </a:tcPr>
                </a:tc>
                <a:tc>
                  <a:txBody>
                    <a:bodyPr/>
                    <a:lstStyle/>
                    <a:p>
                      <a:pPr algn="ctr"/>
                      <a:r>
                        <a:rPr sz="1300" b="1">
                          <a:solidFill>
                            <a:srgbClr val="FFFFFF"/>
                          </a:solidFill>
                          <a:latin typeface="Segoe UI"/>
                        </a:rPr>
                        <a:t>SLA</a:t>
                      </a:r>
                    </a:p>
                  </a:txBody>
                  <a:tcPr>
                    <a:solidFill>
                      <a:srgbClr val="0B1F3A"/>
                    </a:solidFill>
                  </a:tcPr>
                </a:tc>
                <a:extLst>
                  <a:ext uri="{0D108BD9-81ED-4DB2-BD59-A6C34878D82A}">
                    <a16:rowId xmlns:a16="http://schemas.microsoft.com/office/drawing/2014/main" val="10000"/>
                  </a:ext>
                </a:extLst>
              </a:tr>
              <a:tr h="487680">
                <a:tc>
                  <a:txBody>
                    <a:bodyPr/>
                    <a:lstStyle/>
                    <a:p>
                      <a:pPr algn="l"/>
                      <a:r>
                        <a:rPr sz="1400">
                          <a:solidFill>
                            <a:srgbClr val="1A1A1A"/>
                          </a:solidFill>
                          <a:latin typeface="Segoe UI"/>
                        </a:rPr>
                        <a:t>LRU (recency only)</a:t>
                      </a:r>
                    </a:p>
                  </a:txBody>
                  <a:tcPr>
                    <a:solidFill>
                      <a:srgbClr val="FFFFFF"/>
                    </a:solidFill>
                  </a:tcPr>
                </a:tc>
                <a:tc>
                  <a:txBody>
                    <a:bodyPr/>
                    <a:lstStyle/>
                    <a:p>
                      <a:pPr algn="ctr"/>
                      <a:r>
                        <a:rPr sz="1400" b="1">
                          <a:solidFill>
                            <a:srgbClr val="0B6E7A"/>
                          </a:solidFill>
                          <a:latin typeface="Segoe UI"/>
                        </a:rPr>
                        <a:t>65 / 500</a:t>
                      </a:r>
                    </a:p>
                  </a:txBody>
                  <a:tcPr>
                    <a:solidFill>
                      <a:srgbClr val="FFFFFF"/>
                    </a:solidFill>
                  </a:tcPr>
                </a:tc>
                <a:extLst>
                  <a:ext uri="{0D108BD9-81ED-4DB2-BD59-A6C34878D82A}">
                    <a16:rowId xmlns:a16="http://schemas.microsoft.com/office/drawing/2014/main" val="10001"/>
                  </a:ext>
                </a:extLst>
              </a:tr>
              <a:tr h="487680">
                <a:tc>
                  <a:txBody>
                    <a:bodyPr/>
                    <a:lstStyle/>
                    <a:p>
                      <a:pPr algn="l"/>
                      <a:r>
                        <a:rPr sz="1400">
                          <a:solidFill>
                            <a:srgbClr val="1A1A1A"/>
                          </a:solidFill>
                          <a:latin typeface="Segoe UI"/>
                        </a:rPr>
                        <a:t>Nemorix (semantic)</a:t>
                      </a:r>
                    </a:p>
                  </a:txBody>
                  <a:tcPr>
                    <a:solidFill>
                      <a:srgbClr val="F4F7F9"/>
                    </a:solidFill>
                  </a:tcPr>
                </a:tc>
                <a:tc>
                  <a:txBody>
                    <a:bodyPr/>
                    <a:lstStyle/>
                    <a:p>
                      <a:pPr algn="ctr"/>
                      <a:r>
                        <a:rPr sz="1400" b="1">
                          <a:solidFill>
                            <a:srgbClr val="0B6E7A"/>
                          </a:solidFill>
                          <a:latin typeface="Segoe UI"/>
                        </a:rPr>
                        <a:t>273 / 500</a:t>
                      </a:r>
                    </a:p>
                  </a:txBody>
                  <a:tcPr>
                    <a:solidFill>
                      <a:srgbClr val="F4F7F9"/>
                    </a:solidFill>
                  </a:tcPr>
                </a:tc>
                <a:extLst>
                  <a:ext uri="{0D108BD9-81ED-4DB2-BD59-A6C34878D82A}">
                    <a16:rowId xmlns:a16="http://schemas.microsoft.com/office/drawing/2014/main" val="10002"/>
                  </a:ext>
                </a:extLst>
              </a:tr>
            </a:tbl>
          </a:graphicData>
        </a:graphic>
      </p:graphicFrame>
      <p:sp>
        <p:nvSpPr>
          <p:cNvPr id="8" name="TextBox 7"/>
          <p:cNvSpPr txBox="1"/>
          <p:nvPr/>
        </p:nvSpPr>
        <p:spPr>
          <a:xfrm>
            <a:off x="7589520" y="4114800"/>
            <a:ext cx="4023360" cy="2011680"/>
          </a:xfrm>
          <a:prstGeom prst="rect">
            <a:avLst/>
          </a:prstGeom>
          <a:noFill/>
        </p:spPr>
        <p:txBody>
          <a:bodyPr wrap="square" anchor="t">
            <a:spAutoFit/>
          </a:bodyPr>
          <a:lstStyle/>
          <a:p>
            <a:pPr algn="l">
              <a:lnSpc>
                <a:spcPct val="110000"/>
              </a:lnSpc>
              <a:spcAft>
                <a:spcPts val="600"/>
              </a:spcAft>
            </a:pPr>
            <a:r>
              <a:rPr sz="2200" b="1" i="0">
                <a:solidFill>
                  <a:srgbClr val="0B6E7A"/>
                </a:solidFill>
                <a:latin typeface="Segoe UI"/>
              </a:rPr>
              <a:t>4.2× more agents</a:t>
            </a:r>
          </a:p>
          <a:p>
            <a:pPr algn="l">
              <a:lnSpc>
                <a:spcPct val="110000"/>
              </a:lnSpc>
              <a:spcAft>
                <a:spcPts val="600"/>
              </a:spcAft>
            </a:pPr>
            <a:r>
              <a:rPr sz="1600" b="0" i="0">
                <a:solidFill>
                  <a:srgbClr val="1A1A1A"/>
                </a:solidFill>
                <a:latin typeface="Segoe UI"/>
              </a:rPr>
              <a:t>kept under SLA at scale.</a:t>
            </a:r>
          </a:p>
          <a:p>
            <a:pPr algn="l">
              <a:lnSpc>
                <a:spcPct val="110000"/>
              </a:lnSpc>
              <a:spcAft>
                <a:spcPts val="600"/>
              </a:spcAft>
            </a:pPr>
            <a:endParaRPr sz="1600" b="0" i="0">
              <a:solidFill>
                <a:srgbClr val="1A1A1A"/>
              </a:solidFill>
              <a:latin typeface="Segoe UI"/>
            </a:endParaRPr>
          </a:p>
          <a:p>
            <a:pPr algn="l">
              <a:lnSpc>
                <a:spcPct val="110000"/>
              </a:lnSpc>
              <a:spcAft>
                <a:spcPts val="600"/>
              </a:spcAft>
            </a:pPr>
            <a:r>
              <a:rPr sz="1300" b="0" i="0">
                <a:solidFill>
                  <a:srgbClr val="555F6B"/>
                </a:solidFill>
                <a:latin typeface="Segoe UI"/>
              </a:rPr>
              <a:t>Protects high-priority, high-attention, expensive-to-rebuild agents — the defensible algorithmic edge.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BEYOND STATE OF THE ART</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First to combine CXL + lifecycle + semantic</a:t>
            </a:r>
          </a:p>
        </p:txBody>
      </p:sp>
      <p:graphicFrame>
        <p:nvGraphicFramePr>
          <p:cNvPr id="6" name="Table 5"/>
          <p:cNvGraphicFramePr>
            <a:graphicFrameLocks noGrp="1"/>
          </p:cNvGraphicFramePr>
          <p:nvPr/>
        </p:nvGraphicFramePr>
        <p:xfrm>
          <a:off x="640080" y="1920240"/>
          <a:ext cx="10881360" cy="3108960"/>
        </p:xfrm>
        <a:graphic>
          <a:graphicData uri="http://schemas.openxmlformats.org/drawingml/2006/table">
            <a:tbl>
              <a:tblPr firstRow="1" bandRow="1">
                <a:tableStyleId>{5C22544A-7EE6-4342-B048-85BDC9FD1C3A}</a:tableStyleId>
              </a:tblPr>
              <a:tblGrid>
                <a:gridCol w="2176272">
                  <a:extLst>
                    <a:ext uri="{9D8B030D-6E8A-4147-A177-3AD203B41FA5}">
                      <a16:colId xmlns:a16="http://schemas.microsoft.com/office/drawing/2014/main" val="20000"/>
                    </a:ext>
                  </a:extLst>
                </a:gridCol>
                <a:gridCol w="2176272">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gridCol w="2176272">
                  <a:extLst>
                    <a:ext uri="{9D8B030D-6E8A-4147-A177-3AD203B41FA5}">
                      <a16:colId xmlns:a16="http://schemas.microsoft.com/office/drawing/2014/main" val="20003"/>
                    </a:ext>
                  </a:extLst>
                </a:gridCol>
                <a:gridCol w="2176272">
                  <a:extLst>
                    <a:ext uri="{9D8B030D-6E8A-4147-A177-3AD203B41FA5}">
                      <a16:colId xmlns:a16="http://schemas.microsoft.com/office/drawing/2014/main" val="20004"/>
                    </a:ext>
                  </a:extLst>
                </a:gridCol>
              </a:tblGrid>
              <a:tr h="518160">
                <a:tc>
                  <a:txBody>
                    <a:bodyPr/>
                    <a:lstStyle/>
                    <a:p>
                      <a:pPr algn="l"/>
                      <a:r>
                        <a:rPr sz="1200" b="1">
                          <a:solidFill>
                            <a:srgbClr val="FFFFFF"/>
                          </a:solidFill>
                          <a:latin typeface="Segoe UI"/>
                        </a:rPr>
                        <a:t>System</a:t>
                      </a:r>
                    </a:p>
                  </a:txBody>
                  <a:tcPr>
                    <a:solidFill>
                      <a:srgbClr val="0B1F3A"/>
                    </a:solidFill>
                  </a:tcPr>
                </a:tc>
                <a:tc>
                  <a:txBody>
                    <a:bodyPr/>
                    <a:lstStyle/>
                    <a:p>
                      <a:pPr algn="ctr"/>
                      <a:r>
                        <a:rPr sz="1200" b="1">
                          <a:solidFill>
                            <a:srgbClr val="FFFFFF"/>
                          </a:solidFill>
                          <a:latin typeface="Segoe UI"/>
                        </a:rPr>
                        <a:t>Multi-tier</a:t>
                      </a:r>
                    </a:p>
                  </a:txBody>
                  <a:tcPr>
                    <a:solidFill>
                      <a:srgbClr val="0B1F3A"/>
                    </a:solidFill>
                  </a:tcPr>
                </a:tc>
                <a:tc>
                  <a:txBody>
                    <a:bodyPr/>
                    <a:lstStyle/>
                    <a:p>
                      <a:pPr algn="ctr"/>
                      <a:r>
                        <a:rPr sz="1200" b="1">
                          <a:solidFill>
                            <a:srgbClr val="FFFFFF"/>
                          </a:solidFill>
                          <a:latin typeface="Segoe UI"/>
                        </a:rPr>
                        <a:t>CXL</a:t>
                      </a:r>
                    </a:p>
                  </a:txBody>
                  <a:tcPr>
                    <a:solidFill>
                      <a:srgbClr val="0B1F3A"/>
                    </a:solidFill>
                  </a:tcPr>
                </a:tc>
                <a:tc>
                  <a:txBody>
                    <a:bodyPr/>
                    <a:lstStyle/>
                    <a:p>
                      <a:pPr algn="ctr"/>
                      <a:r>
                        <a:rPr sz="1200" b="1">
                          <a:solidFill>
                            <a:srgbClr val="FFFFFF"/>
                          </a:solidFill>
                          <a:latin typeface="Segoe UI"/>
                        </a:rPr>
                        <a:t>Semantic eviction</a:t>
                      </a:r>
                    </a:p>
                  </a:txBody>
                  <a:tcPr>
                    <a:solidFill>
                      <a:srgbClr val="0B1F3A"/>
                    </a:solidFill>
                  </a:tcPr>
                </a:tc>
                <a:tc>
                  <a:txBody>
                    <a:bodyPr/>
                    <a:lstStyle/>
                    <a:p>
                      <a:pPr algn="ctr"/>
                      <a:r>
                        <a:rPr sz="1200" b="1">
                          <a:solidFill>
                            <a:srgbClr val="FFFFFF"/>
                          </a:solidFill>
                          <a:latin typeface="Segoe UI"/>
                        </a:rPr>
                        <a:t>Agent-centric</a:t>
                      </a:r>
                    </a:p>
                  </a:txBody>
                  <a:tcPr>
                    <a:solidFill>
                      <a:srgbClr val="0B1F3A"/>
                    </a:solidFill>
                  </a:tcPr>
                </a:tc>
                <a:extLst>
                  <a:ext uri="{0D108BD9-81ED-4DB2-BD59-A6C34878D82A}">
                    <a16:rowId xmlns:a16="http://schemas.microsoft.com/office/drawing/2014/main" val="10000"/>
                  </a:ext>
                </a:extLst>
              </a:tr>
              <a:tr h="518160">
                <a:tc>
                  <a:txBody>
                    <a:bodyPr/>
                    <a:lstStyle/>
                    <a:p>
                      <a:pPr algn="l"/>
                      <a:r>
                        <a:rPr sz="1300">
                          <a:solidFill>
                            <a:srgbClr val="1A1A1A"/>
                          </a:solidFill>
                          <a:latin typeface="Segoe UI"/>
                        </a:rPr>
                        <a:t>vLLM</a:t>
                      </a:r>
                    </a:p>
                  </a:txBody>
                  <a:tcPr>
                    <a:solidFill>
                      <a:srgbClr val="FFFFFF"/>
                    </a:solidFill>
                  </a:tcPr>
                </a:tc>
                <a:tc>
                  <a:txBody>
                    <a:bodyPr/>
                    <a:lstStyle/>
                    <a:p>
                      <a:pPr algn="ctr"/>
                      <a:r>
                        <a:rPr sz="1300">
                          <a:solidFill>
                            <a:srgbClr val="1A1A1A"/>
                          </a:solidFill>
                          <a:latin typeface="Segoe UI"/>
                        </a:rPr>
                        <a:t>partial</a:t>
                      </a:r>
                    </a:p>
                  </a:txBody>
                  <a:tcPr>
                    <a:solidFill>
                      <a:srgbClr val="FFFFFF"/>
                    </a:solidFill>
                  </a:tcPr>
                </a:tc>
                <a:tc>
                  <a:txBody>
                    <a:bodyPr/>
                    <a:lstStyle/>
                    <a:p>
                      <a:pPr algn="ctr"/>
                      <a:r>
                        <a:rPr sz="1300">
                          <a:solidFill>
                            <a:srgbClr val="1A1A1A"/>
                          </a:solidFill>
                          <a:latin typeface="Segoe UI"/>
                        </a:rPr>
                        <a:t>No</a:t>
                      </a:r>
                    </a:p>
                  </a:txBody>
                  <a:tcPr>
                    <a:solidFill>
                      <a:srgbClr val="FFFFFF"/>
                    </a:solidFill>
                  </a:tcPr>
                </a:tc>
                <a:tc>
                  <a:txBody>
                    <a:bodyPr/>
                    <a:lstStyle/>
                    <a:p>
                      <a:pPr algn="ctr"/>
                      <a:r>
                        <a:rPr sz="1300">
                          <a:solidFill>
                            <a:srgbClr val="1A1A1A"/>
                          </a:solidFill>
                          <a:latin typeface="Segoe UI"/>
                        </a:rPr>
                        <a:t>No (LRU)</a:t>
                      </a:r>
                    </a:p>
                  </a:txBody>
                  <a:tcPr>
                    <a:solidFill>
                      <a:srgbClr val="FFFFFF"/>
                    </a:solidFill>
                  </a:tcPr>
                </a:tc>
                <a:tc>
                  <a:txBody>
                    <a:bodyPr/>
                    <a:lstStyle/>
                    <a:p>
                      <a:pPr algn="ctr"/>
                      <a:r>
                        <a:rPr sz="1300" b="1">
                          <a:solidFill>
                            <a:srgbClr val="0B6E7A"/>
                          </a:solidFill>
                          <a:latin typeface="Segoe UI"/>
                        </a:rPr>
                        <a:t>No (request)</a:t>
                      </a:r>
                    </a:p>
                  </a:txBody>
                  <a:tcPr>
                    <a:solidFill>
                      <a:srgbClr val="FFFFFF"/>
                    </a:solidFill>
                  </a:tcPr>
                </a:tc>
                <a:extLst>
                  <a:ext uri="{0D108BD9-81ED-4DB2-BD59-A6C34878D82A}">
                    <a16:rowId xmlns:a16="http://schemas.microsoft.com/office/drawing/2014/main" val="10001"/>
                  </a:ext>
                </a:extLst>
              </a:tr>
              <a:tr h="518160">
                <a:tc>
                  <a:txBody>
                    <a:bodyPr/>
                    <a:lstStyle/>
                    <a:p>
                      <a:pPr algn="l"/>
                      <a:r>
                        <a:rPr sz="1300">
                          <a:solidFill>
                            <a:srgbClr val="1A1A1A"/>
                          </a:solidFill>
                          <a:latin typeface="Segoe UI"/>
                        </a:rPr>
                        <a:t>NVIDIA Dynamo</a:t>
                      </a:r>
                    </a:p>
                  </a:txBody>
                  <a:tcPr>
                    <a:solidFill>
                      <a:srgbClr val="F4F7F9"/>
                    </a:solidFill>
                  </a:tcPr>
                </a:tc>
                <a:tc>
                  <a:txBody>
                    <a:bodyPr/>
                    <a:lstStyle/>
                    <a:p>
                      <a:pPr algn="ctr"/>
                      <a:r>
                        <a:rPr sz="1300">
                          <a:solidFill>
                            <a:srgbClr val="1A1A1A"/>
                          </a:solidFill>
                          <a:latin typeface="Segoe UI"/>
                        </a:rPr>
                        <a:t>Yes</a:t>
                      </a:r>
                    </a:p>
                  </a:txBody>
                  <a:tcPr>
                    <a:solidFill>
                      <a:srgbClr val="F4F7F9"/>
                    </a:solidFill>
                  </a:tcPr>
                </a:tc>
                <a:tc>
                  <a:txBody>
                    <a:bodyPr/>
                    <a:lstStyle/>
                    <a:p>
                      <a:pPr algn="ctr"/>
                      <a:r>
                        <a:rPr sz="1300">
                          <a:solidFill>
                            <a:srgbClr val="1A1A1A"/>
                          </a:solidFill>
                          <a:latin typeface="Segoe UI"/>
                        </a:rPr>
                        <a:t>No</a:t>
                      </a:r>
                    </a:p>
                  </a:txBody>
                  <a:tcPr>
                    <a:solidFill>
                      <a:srgbClr val="F4F7F9"/>
                    </a:solidFill>
                  </a:tcPr>
                </a:tc>
                <a:tc>
                  <a:txBody>
                    <a:bodyPr/>
                    <a:lstStyle/>
                    <a:p>
                      <a:pPr algn="ctr"/>
                      <a:r>
                        <a:rPr sz="1300">
                          <a:solidFill>
                            <a:srgbClr val="1A1A1A"/>
                          </a:solidFill>
                          <a:latin typeface="Segoe UI"/>
                        </a:rPr>
                        <a:t>No</a:t>
                      </a:r>
                    </a:p>
                  </a:txBody>
                  <a:tcPr>
                    <a:solidFill>
                      <a:srgbClr val="F4F7F9"/>
                    </a:solidFill>
                  </a:tcPr>
                </a:tc>
                <a:tc>
                  <a:txBody>
                    <a:bodyPr/>
                    <a:lstStyle/>
                    <a:p>
                      <a:pPr algn="ctr"/>
                      <a:r>
                        <a:rPr sz="1300" b="1">
                          <a:solidFill>
                            <a:srgbClr val="0B6E7A"/>
                          </a:solidFill>
                          <a:latin typeface="Segoe UI"/>
                        </a:rPr>
                        <a:t>semi</a:t>
                      </a:r>
                    </a:p>
                  </a:txBody>
                  <a:tcPr>
                    <a:solidFill>
                      <a:srgbClr val="F4F7F9"/>
                    </a:solidFill>
                  </a:tcPr>
                </a:tc>
                <a:extLst>
                  <a:ext uri="{0D108BD9-81ED-4DB2-BD59-A6C34878D82A}">
                    <a16:rowId xmlns:a16="http://schemas.microsoft.com/office/drawing/2014/main" val="10002"/>
                  </a:ext>
                </a:extLst>
              </a:tr>
              <a:tr h="518160">
                <a:tc>
                  <a:txBody>
                    <a:bodyPr/>
                    <a:lstStyle/>
                    <a:p>
                      <a:pPr algn="l"/>
                      <a:r>
                        <a:rPr sz="1300">
                          <a:solidFill>
                            <a:srgbClr val="1A1A1A"/>
                          </a:solidFill>
                          <a:latin typeface="Segoe UI"/>
                        </a:rPr>
                        <a:t>FlexGen / Mooncake</a:t>
                      </a:r>
                    </a:p>
                  </a:txBody>
                  <a:tcPr>
                    <a:solidFill>
                      <a:srgbClr val="FFFFFF"/>
                    </a:solidFill>
                  </a:tcPr>
                </a:tc>
                <a:tc>
                  <a:txBody>
                    <a:bodyPr/>
                    <a:lstStyle/>
                    <a:p>
                      <a:pPr algn="ctr"/>
                      <a:r>
                        <a:rPr sz="1300">
                          <a:solidFill>
                            <a:srgbClr val="1A1A1A"/>
                          </a:solidFill>
                          <a:latin typeface="Segoe UI"/>
                        </a:rPr>
                        <a:t>Yes</a:t>
                      </a:r>
                    </a:p>
                  </a:txBody>
                  <a:tcPr>
                    <a:solidFill>
                      <a:srgbClr val="FFFFFF"/>
                    </a:solidFill>
                  </a:tcPr>
                </a:tc>
                <a:tc>
                  <a:txBody>
                    <a:bodyPr/>
                    <a:lstStyle/>
                    <a:p>
                      <a:pPr algn="ctr"/>
                      <a:r>
                        <a:rPr sz="1300">
                          <a:solidFill>
                            <a:srgbClr val="1A1A1A"/>
                          </a:solidFill>
                          <a:latin typeface="Segoe UI"/>
                        </a:rPr>
                        <a:t>No</a:t>
                      </a:r>
                    </a:p>
                  </a:txBody>
                  <a:tcPr>
                    <a:solidFill>
                      <a:srgbClr val="FFFFFF"/>
                    </a:solidFill>
                  </a:tcPr>
                </a:tc>
                <a:tc>
                  <a:txBody>
                    <a:bodyPr/>
                    <a:lstStyle/>
                    <a:p>
                      <a:pPr algn="ctr"/>
                      <a:r>
                        <a:rPr sz="1300">
                          <a:solidFill>
                            <a:srgbClr val="1A1A1A"/>
                          </a:solidFill>
                          <a:latin typeface="Segoe UI"/>
                        </a:rPr>
                        <a:t>No</a:t>
                      </a:r>
                    </a:p>
                  </a:txBody>
                  <a:tcPr>
                    <a:solidFill>
                      <a:srgbClr val="FFFFFF"/>
                    </a:solidFill>
                  </a:tcPr>
                </a:tc>
                <a:tc>
                  <a:txBody>
                    <a:bodyPr/>
                    <a:lstStyle/>
                    <a:p>
                      <a:pPr algn="ctr"/>
                      <a:r>
                        <a:rPr sz="1300" b="1">
                          <a:solidFill>
                            <a:srgbClr val="0B6E7A"/>
                          </a:solidFill>
                          <a:latin typeface="Segoe UI"/>
                        </a:rPr>
                        <a:t>No (throughput)</a:t>
                      </a:r>
                    </a:p>
                  </a:txBody>
                  <a:tcPr>
                    <a:solidFill>
                      <a:srgbClr val="FFFFFF"/>
                    </a:solidFill>
                  </a:tcPr>
                </a:tc>
                <a:extLst>
                  <a:ext uri="{0D108BD9-81ED-4DB2-BD59-A6C34878D82A}">
                    <a16:rowId xmlns:a16="http://schemas.microsoft.com/office/drawing/2014/main" val="10003"/>
                  </a:ext>
                </a:extLst>
              </a:tr>
              <a:tr h="518160">
                <a:tc>
                  <a:txBody>
                    <a:bodyPr/>
                    <a:lstStyle/>
                    <a:p>
                      <a:pPr algn="l"/>
                      <a:r>
                        <a:rPr sz="1300">
                          <a:solidFill>
                            <a:srgbClr val="1A1A1A"/>
                          </a:solidFill>
                          <a:latin typeface="Segoe UI"/>
                        </a:rPr>
                        <a:t>Liaw &amp; Chen '25</a:t>
                      </a:r>
                    </a:p>
                  </a:txBody>
                  <a:tcPr>
                    <a:solidFill>
                      <a:srgbClr val="F4F7F9"/>
                    </a:solidFill>
                  </a:tcPr>
                </a:tc>
                <a:tc>
                  <a:txBody>
                    <a:bodyPr/>
                    <a:lstStyle/>
                    <a:p>
                      <a:pPr algn="ctr"/>
                      <a:r>
                        <a:rPr sz="1300">
                          <a:solidFill>
                            <a:srgbClr val="1A1A1A"/>
                          </a:solidFill>
                          <a:latin typeface="Segoe UI"/>
                        </a:rPr>
                        <a:t>—</a:t>
                      </a:r>
                    </a:p>
                  </a:txBody>
                  <a:tcPr>
                    <a:solidFill>
                      <a:srgbClr val="F4F7F9"/>
                    </a:solidFill>
                  </a:tcPr>
                </a:tc>
                <a:tc>
                  <a:txBody>
                    <a:bodyPr/>
                    <a:lstStyle/>
                    <a:p>
                      <a:pPr algn="ctr"/>
                      <a:r>
                        <a:rPr sz="1300">
                          <a:solidFill>
                            <a:srgbClr val="1A1A1A"/>
                          </a:solidFill>
                          <a:latin typeface="Segoe UI"/>
                        </a:rPr>
                        <a:t>Yes (training)</a:t>
                      </a:r>
                    </a:p>
                  </a:txBody>
                  <a:tcPr>
                    <a:solidFill>
                      <a:srgbClr val="F4F7F9"/>
                    </a:solidFill>
                  </a:tcPr>
                </a:tc>
                <a:tc>
                  <a:txBody>
                    <a:bodyPr/>
                    <a:lstStyle/>
                    <a:p>
                      <a:pPr algn="ctr"/>
                      <a:r>
                        <a:rPr sz="1300">
                          <a:solidFill>
                            <a:srgbClr val="1A1A1A"/>
                          </a:solidFill>
                          <a:latin typeface="Segoe UI"/>
                        </a:rPr>
                        <a:t>—</a:t>
                      </a:r>
                    </a:p>
                  </a:txBody>
                  <a:tcPr>
                    <a:solidFill>
                      <a:srgbClr val="F4F7F9"/>
                    </a:solidFill>
                  </a:tcPr>
                </a:tc>
                <a:tc>
                  <a:txBody>
                    <a:bodyPr/>
                    <a:lstStyle/>
                    <a:p>
                      <a:pPr algn="ctr"/>
                      <a:r>
                        <a:rPr sz="1300" b="1">
                          <a:solidFill>
                            <a:srgbClr val="0B6E7A"/>
                          </a:solidFill>
                          <a:latin typeface="Segoe UI"/>
                        </a:rPr>
                        <a:t>No</a:t>
                      </a:r>
                    </a:p>
                  </a:txBody>
                  <a:tcPr>
                    <a:solidFill>
                      <a:srgbClr val="F4F7F9"/>
                    </a:solidFill>
                  </a:tcPr>
                </a:tc>
                <a:extLst>
                  <a:ext uri="{0D108BD9-81ED-4DB2-BD59-A6C34878D82A}">
                    <a16:rowId xmlns:a16="http://schemas.microsoft.com/office/drawing/2014/main" val="10004"/>
                  </a:ext>
                </a:extLst>
              </a:tr>
              <a:tr h="518160">
                <a:tc>
                  <a:txBody>
                    <a:bodyPr/>
                    <a:lstStyle/>
                    <a:p>
                      <a:pPr algn="l"/>
                      <a:r>
                        <a:rPr sz="1300">
                          <a:solidFill>
                            <a:srgbClr val="1A1A1A"/>
                          </a:solidFill>
                          <a:latin typeface="Segoe UI"/>
                        </a:rPr>
                        <a:t>Nemorix</a:t>
                      </a:r>
                    </a:p>
                  </a:txBody>
                  <a:tcPr>
                    <a:solidFill>
                      <a:srgbClr val="FFFFFF"/>
                    </a:solidFill>
                  </a:tcPr>
                </a:tc>
                <a:tc>
                  <a:txBody>
                    <a:bodyPr/>
                    <a:lstStyle/>
                    <a:p>
                      <a:pPr algn="ctr"/>
                      <a:r>
                        <a:rPr sz="1300">
                          <a:solidFill>
                            <a:srgbClr val="1A1A1A"/>
                          </a:solidFill>
                          <a:latin typeface="Segoe UI"/>
                        </a:rPr>
                        <a:t>Yes (4-tier)</a:t>
                      </a:r>
                    </a:p>
                  </a:txBody>
                  <a:tcPr>
                    <a:solidFill>
                      <a:srgbClr val="FFFFFF"/>
                    </a:solidFill>
                  </a:tcPr>
                </a:tc>
                <a:tc>
                  <a:txBody>
                    <a:bodyPr/>
                    <a:lstStyle/>
                    <a:p>
                      <a:pPr algn="ctr"/>
                      <a:r>
                        <a:rPr sz="1300">
                          <a:solidFill>
                            <a:srgbClr val="1A1A1A"/>
                          </a:solidFill>
                          <a:latin typeface="Segoe UI"/>
                        </a:rPr>
                        <a:t>Yes</a:t>
                      </a:r>
                    </a:p>
                  </a:txBody>
                  <a:tcPr>
                    <a:solidFill>
                      <a:srgbClr val="FFFFFF"/>
                    </a:solidFill>
                  </a:tcPr>
                </a:tc>
                <a:tc>
                  <a:txBody>
                    <a:bodyPr/>
                    <a:lstStyle/>
                    <a:p>
                      <a:pPr algn="ctr"/>
                      <a:r>
                        <a:rPr sz="1300">
                          <a:solidFill>
                            <a:srgbClr val="1A1A1A"/>
                          </a:solidFill>
                          <a:latin typeface="Segoe UI"/>
                        </a:rPr>
                        <a:t>Yes</a:t>
                      </a:r>
                    </a:p>
                  </a:txBody>
                  <a:tcPr>
                    <a:solidFill>
                      <a:srgbClr val="FFFFFF"/>
                    </a:solidFill>
                  </a:tcPr>
                </a:tc>
                <a:tc>
                  <a:txBody>
                    <a:bodyPr/>
                    <a:lstStyle/>
                    <a:p>
                      <a:pPr algn="ctr"/>
                      <a:r>
                        <a:rPr sz="1300" b="1">
                          <a:solidFill>
                            <a:srgbClr val="0B6E7A"/>
                          </a:solidFill>
                          <a:latin typeface="Segoe UI"/>
                        </a:rPr>
                        <a:t>Yes</a:t>
                      </a:r>
                    </a:p>
                  </a:txBody>
                  <a:tcP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40080" y="5303520"/>
            <a:ext cx="10881360" cy="731520"/>
          </a:xfrm>
          <a:prstGeom prst="rect">
            <a:avLst/>
          </a:prstGeom>
          <a:noFill/>
        </p:spPr>
        <p:txBody>
          <a:bodyPr wrap="square" anchor="t">
            <a:spAutoFit/>
          </a:bodyPr>
          <a:lstStyle/>
          <a:p>
            <a:pPr algn="l">
              <a:lnSpc>
                <a:spcPct val="110000"/>
              </a:lnSpc>
              <a:spcAft>
                <a:spcPts val="600"/>
              </a:spcAft>
            </a:pPr>
            <a:r>
              <a:rPr sz="1500" b="1" i="0">
                <a:solidFill>
                  <a:srgbClr val="0B1F3A"/>
                </a:solidFill>
                <a:latin typeface="Segoe UI"/>
              </a:rPr>
              <a:t>Every ingredient exists somewhere. Nobody combines them. Nemorix is the only system at the intersection.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1B9AAA"/>
                </a:solidFill>
                <a:latin typeface="Segoe UI"/>
              </a:rPr>
              <a:t>WHY IMEC</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FFFFFF"/>
                </a:solidFill>
                <a:latin typeface="Segoe UI"/>
              </a:rPr>
              <a:t>Uniquely positioned: simulation → silicon</a:t>
            </a:r>
          </a:p>
        </p:txBody>
      </p:sp>
      <p:sp>
        <p:nvSpPr>
          <p:cNvPr id="6" name="TextBox 5"/>
          <p:cNvSpPr txBox="1"/>
          <p:nvPr/>
        </p:nvSpPr>
        <p:spPr>
          <a:xfrm>
            <a:off x="731520" y="2011680"/>
            <a:ext cx="10058400" cy="3657600"/>
          </a:xfrm>
          <a:prstGeom prst="rect">
            <a:avLst/>
          </a:prstGeom>
          <a:noFill/>
        </p:spPr>
        <p:txBody>
          <a:bodyPr wrap="square" anchor="t">
            <a:spAutoFit/>
          </a:bodyPr>
          <a:lstStyle/>
          <a:p>
            <a:pPr algn="l">
              <a:lnSpc>
                <a:spcPct val="120000"/>
              </a:lnSpc>
              <a:spcAft>
                <a:spcPts val="1600"/>
              </a:spcAft>
            </a:pPr>
            <a:r>
              <a:rPr sz="1600" b="1" i="0">
                <a:solidFill>
                  <a:srgbClr val="1B9AAA"/>
                </a:solidFill>
                <a:latin typeface="Segoe UI"/>
              </a:rPr>
              <a:t>▶  </a:t>
            </a:r>
            <a:r>
              <a:rPr sz="1800" b="0" i="0">
                <a:solidFill>
                  <a:srgbClr val="FFFFFF"/>
                </a:solidFill>
                <a:latin typeface="Segoe UI"/>
              </a:rPr>
              <a:t>World-class CXL &amp; memory-system expertise</a:t>
            </a:r>
          </a:p>
          <a:p>
            <a:pPr algn="l">
              <a:lnSpc>
                <a:spcPct val="120000"/>
              </a:lnSpc>
              <a:spcAft>
                <a:spcPts val="1600"/>
              </a:spcAft>
            </a:pPr>
            <a:r>
              <a:rPr sz="1600" b="1" i="0">
                <a:solidFill>
                  <a:srgbClr val="1B9AAA"/>
                </a:solidFill>
                <a:latin typeface="Segoe UI"/>
              </a:rPr>
              <a:t>▶  </a:t>
            </a:r>
            <a:r>
              <a:rPr sz="1800" b="0" i="0">
                <a:solidFill>
                  <a:srgbClr val="FFFFFF"/>
                </a:solidFill>
                <a:latin typeface="Segoe UI"/>
              </a:rPr>
              <a:t>Hardware-software co-design capability</a:t>
            </a:r>
          </a:p>
          <a:p>
            <a:pPr algn="l">
              <a:lnSpc>
                <a:spcPct val="120000"/>
              </a:lnSpc>
              <a:spcAft>
                <a:spcPts val="1600"/>
              </a:spcAft>
            </a:pPr>
            <a:r>
              <a:rPr sz="1600" b="1" i="0">
                <a:solidFill>
                  <a:srgbClr val="1B9AAA"/>
                </a:solidFill>
                <a:latin typeface="Segoe UI"/>
              </a:rPr>
              <a:t>▶  </a:t>
            </a:r>
            <a:r>
              <a:rPr sz="1800" b="0" i="0">
                <a:solidFill>
                  <a:srgbClr val="FFFFFF"/>
                </a:solidFill>
                <a:latin typeface="Segoe UI"/>
              </a:rPr>
              <a:t>Access to semiconductor partners (Samsung, SK Hynix)</a:t>
            </a:r>
          </a:p>
          <a:p>
            <a:pPr algn="l">
              <a:lnSpc>
                <a:spcPct val="120000"/>
              </a:lnSpc>
              <a:spcAft>
                <a:spcPts val="1600"/>
              </a:spcAft>
            </a:pPr>
            <a:r>
              <a:rPr sz="1600" b="1" i="0">
                <a:solidFill>
                  <a:srgbClr val="1B9AAA"/>
                </a:solidFill>
                <a:latin typeface="Segoe UI"/>
              </a:rPr>
              <a:t>▶  </a:t>
            </a:r>
            <a:r>
              <a:rPr sz="1800" b="0" i="0">
                <a:solidFill>
                  <a:srgbClr val="FFFFFF"/>
                </a:solidFill>
                <a:latin typeface="Segoe UI"/>
              </a:rPr>
              <a:t>HPC infrastructure for real H100 + CXL validation</a:t>
            </a:r>
          </a:p>
          <a:p>
            <a:pPr algn="l">
              <a:lnSpc>
                <a:spcPct val="120000"/>
              </a:lnSpc>
              <a:spcAft>
                <a:spcPts val="1600"/>
              </a:spcAft>
            </a:pPr>
            <a:r>
              <a:rPr sz="1600" b="1" i="0">
                <a:solidFill>
                  <a:srgbClr val="1B9AAA"/>
                </a:solidFill>
                <a:latin typeface="Segoe UI"/>
              </a:rPr>
              <a:t>▶  </a:t>
            </a:r>
            <a:r>
              <a:rPr sz="1800" b="0" i="0">
                <a:solidFill>
                  <a:srgbClr val="FFFFFF"/>
                </a:solidFill>
                <a:latin typeface="Segoe UI"/>
              </a:rPr>
              <a:t>Deep-tech commercialization support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THE ASK &amp; PLAN</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Fund a new R&amp;D track to validate on real hardware</a:t>
            </a:r>
          </a:p>
        </p:txBody>
      </p:sp>
      <p:graphicFrame>
        <p:nvGraphicFramePr>
          <p:cNvPr id="6" name="Table 5"/>
          <p:cNvGraphicFramePr>
            <a:graphicFrameLocks noGrp="1"/>
          </p:cNvGraphicFramePr>
          <p:nvPr/>
        </p:nvGraphicFramePr>
        <p:xfrm>
          <a:off x="640080" y="1828800"/>
          <a:ext cx="7680960" cy="329184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548640">
                <a:tc>
                  <a:txBody>
                    <a:bodyPr/>
                    <a:lstStyle/>
                    <a:p>
                      <a:pPr algn="l"/>
                      <a:r>
                        <a:rPr sz="1250" b="1">
                          <a:solidFill>
                            <a:srgbClr val="FFFFFF"/>
                          </a:solidFill>
                          <a:latin typeface="Segoe UI"/>
                        </a:rPr>
                        <a:t>Phase</a:t>
                      </a:r>
                    </a:p>
                  </a:txBody>
                  <a:tcPr>
                    <a:solidFill>
                      <a:srgbClr val="0B1F3A"/>
                    </a:solidFill>
                  </a:tcPr>
                </a:tc>
                <a:tc>
                  <a:txBody>
                    <a:bodyPr/>
                    <a:lstStyle/>
                    <a:p>
                      <a:pPr algn="ctr"/>
                      <a:r>
                        <a:rPr sz="1250" b="1">
                          <a:solidFill>
                            <a:srgbClr val="FFFFFF"/>
                          </a:solidFill>
                          <a:latin typeface="Segoe UI"/>
                        </a:rPr>
                        <a:t>What</a:t>
                      </a:r>
                    </a:p>
                  </a:txBody>
                  <a:tcPr>
                    <a:solidFill>
                      <a:srgbClr val="0B1F3A"/>
                    </a:solidFill>
                  </a:tcPr>
                </a:tc>
                <a:tc>
                  <a:txBody>
                    <a:bodyPr/>
                    <a:lstStyle/>
                    <a:p>
                      <a:pPr algn="ctr"/>
                      <a:r>
                        <a:rPr sz="1250" b="1">
                          <a:solidFill>
                            <a:srgbClr val="FFFFFF"/>
                          </a:solidFill>
                          <a:latin typeface="Segoe UI"/>
                        </a:rPr>
                        <a:t>Outcome</a:t>
                      </a:r>
                    </a:p>
                  </a:txBody>
                  <a:tcPr>
                    <a:solidFill>
                      <a:srgbClr val="0B1F3A"/>
                    </a:solidFill>
                  </a:tcPr>
                </a:tc>
                <a:extLst>
                  <a:ext uri="{0D108BD9-81ED-4DB2-BD59-A6C34878D82A}">
                    <a16:rowId xmlns:a16="http://schemas.microsoft.com/office/drawing/2014/main" val="10000"/>
                  </a:ext>
                </a:extLst>
              </a:tr>
              <a:tr h="548640">
                <a:tc>
                  <a:txBody>
                    <a:bodyPr/>
                    <a:lstStyle/>
                    <a:p>
                      <a:pPr algn="l"/>
                      <a:r>
                        <a:rPr sz="1250">
                          <a:solidFill>
                            <a:srgbClr val="1A1A1A"/>
                          </a:solidFill>
                          <a:latin typeface="Segoe UI"/>
                        </a:rPr>
                        <a:t>Now ✓</a:t>
                      </a:r>
                    </a:p>
                  </a:txBody>
                  <a:tcPr>
                    <a:solidFill>
                      <a:srgbClr val="FFFFFF"/>
                    </a:solidFill>
                  </a:tcPr>
                </a:tc>
                <a:tc>
                  <a:txBody>
                    <a:bodyPr/>
                    <a:lstStyle/>
                    <a:p>
                      <a:pPr algn="ctr"/>
                      <a:r>
                        <a:rPr sz="1250">
                          <a:solidFill>
                            <a:srgbClr val="1A1A1A"/>
                          </a:solidFill>
                          <a:latin typeface="Segoe UI"/>
                        </a:rPr>
                        <a:t>Simulator + paper draft</a:t>
                      </a:r>
                    </a:p>
                  </a:txBody>
                  <a:tcPr>
                    <a:solidFill>
                      <a:srgbClr val="FFFFFF"/>
                    </a:solidFill>
                  </a:tcPr>
                </a:tc>
                <a:tc>
                  <a:txBody>
                    <a:bodyPr/>
                    <a:lstStyle/>
                    <a:p>
                      <a:pPr algn="ctr"/>
                      <a:r>
                        <a:rPr sz="1250" b="1">
                          <a:solidFill>
                            <a:srgbClr val="0B6E7A"/>
                          </a:solidFill>
                          <a:latin typeface="Segoe UI"/>
                        </a:rPr>
                        <a:t>74 tests, preprint-ready</a:t>
                      </a:r>
                    </a:p>
                  </a:txBody>
                  <a:tcPr>
                    <a:solidFill>
                      <a:srgbClr val="FFFFFF"/>
                    </a:solidFill>
                  </a:tcPr>
                </a:tc>
                <a:extLst>
                  <a:ext uri="{0D108BD9-81ED-4DB2-BD59-A6C34878D82A}">
                    <a16:rowId xmlns:a16="http://schemas.microsoft.com/office/drawing/2014/main" val="10001"/>
                  </a:ext>
                </a:extLst>
              </a:tr>
              <a:tr h="548640">
                <a:tc>
                  <a:txBody>
                    <a:bodyPr/>
                    <a:lstStyle/>
                    <a:p>
                      <a:pPr algn="l"/>
                      <a:r>
                        <a:rPr sz="1250">
                          <a:solidFill>
                            <a:srgbClr val="1A1A1A"/>
                          </a:solidFill>
                          <a:latin typeface="Segoe UI"/>
                        </a:rPr>
                        <a:t>0–6 mo</a:t>
                      </a:r>
                    </a:p>
                  </a:txBody>
                  <a:tcPr>
                    <a:solidFill>
                      <a:srgbClr val="F4F7F9"/>
                    </a:solidFill>
                  </a:tcPr>
                </a:tc>
                <a:tc>
                  <a:txBody>
                    <a:bodyPr/>
                    <a:lstStyle/>
                    <a:p>
                      <a:pPr algn="ctr"/>
                      <a:r>
                        <a:rPr sz="1250">
                          <a:solidFill>
                            <a:srgbClr val="1A1A1A"/>
                          </a:solidFill>
                          <a:latin typeface="Segoe UI"/>
                        </a:rPr>
                        <a:t>Workshop paper + arXiv</a:t>
                      </a:r>
                    </a:p>
                  </a:txBody>
                  <a:tcPr>
                    <a:solidFill>
                      <a:srgbClr val="F4F7F9"/>
                    </a:solidFill>
                  </a:tcPr>
                </a:tc>
                <a:tc>
                  <a:txBody>
                    <a:bodyPr/>
                    <a:lstStyle/>
                    <a:p>
                      <a:pPr algn="ctr"/>
                      <a:r>
                        <a:rPr sz="1250" b="1">
                          <a:solidFill>
                            <a:srgbClr val="0B6E7A"/>
                          </a:solidFill>
                          <a:latin typeface="Segoe UI"/>
                        </a:rPr>
                        <a:t>priority + credibility</a:t>
                      </a:r>
                    </a:p>
                  </a:txBody>
                  <a:tcPr>
                    <a:solidFill>
                      <a:srgbClr val="F4F7F9"/>
                    </a:solidFill>
                  </a:tcPr>
                </a:tc>
                <a:extLst>
                  <a:ext uri="{0D108BD9-81ED-4DB2-BD59-A6C34878D82A}">
                    <a16:rowId xmlns:a16="http://schemas.microsoft.com/office/drawing/2014/main" val="10002"/>
                  </a:ext>
                </a:extLst>
              </a:tr>
              <a:tr h="548640">
                <a:tc>
                  <a:txBody>
                    <a:bodyPr/>
                    <a:lstStyle/>
                    <a:p>
                      <a:pPr algn="l"/>
                      <a:r>
                        <a:rPr sz="1250">
                          <a:solidFill>
                            <a:srgbClr val="1A1A1A"/>
                          </a:solidFill>
                          <a:latin typeface="Segoe UI"/>
                        </a:rPr>
                        <a:t>3–9 mo</a:t>
                      </a:r>
                    </a:p>
                  </a:txBody>
                  <a:tcPr>
                    <a:solidFill>
                      <a:srgbClr val="FFFFFF"/>
                    </a:solidFill>
                  </a:tcPr>
                </a:tc>
                <a:tc>
                  <a:txBody>
                    <a:bodyPr/>
                    <a:lstStyle/>
                    <a:p>
                      <a:pPr algn="ctr"/>
                      <a:r>
                        <a:rPr sz="1250">
                          <a:solidFill>
                            <a:srgbClr val="1A1A1A"/>
                          </a:solidFill>
                          <a:latin typeface="Segoe UI"/>
                        </a:rPr>
                        <a:t>vLLM + real H100 + CXL DIMM</a:t>
                      </a:r>
                    </a:p>
                  </a:txBody>
                  <a:tcPr>
                    <a:solidFill>
                      <a:srgbClr val="FFFFFF"/>
                    </a:solidFill>
                  </a:tcPr>
                </a:tc>
                <a:tc>
                  <a:txBody>
                    <a:bodyPr/>
                    <a:lstStyle/>
                    <a:p>
                      <a:pPr algn="ctr"/>
                      <a:r>
                        <a:rPr sz="1250" b="1">
                          <a:solidFill>
                            <a:srgbClr val="0B6E7A"/>
                          </a:solidFill>
                          <a:latin typeface="Segoe UI"/>
                        </a:rPr>
                        <a:t>measured, not simulated</a:t>
                      </a:r>
                    </a:p>
                  </a:txBody>
                  <a:tcPr>
                    <a:solidFill>
                      <a:srgbClr val="FFFFFF"/>
                    </a:solidFill>
                  </a:tcPr>
                </a:tc>
                <a:extLst>
                  <a:ext uri="{0D108BD9-81ED-4DB2-BD59-A6C34878D82A}">
                    <a16:rowId xmlns:a16="http://schemas.microsoft.com/office/drawing/2014/main" val="10003"/>
                  </a:ext>
                </a:extLst>
              </a:tr>
              <a:tr h="548640">
                <a:tc>
                  <a:txBody>
                    <a:bodyPr/>
                    <a:lstStyle/>
                    <a:p>
                      <a:pPr algn="l"/>
                      <a:r>
                        <a:rPr sz="1250">
                          <a:solidFill>
                            <a:srgbClr val="1A1A1A"/>
                          </a:solidFill>
                          <a:latin typeface="Segoe UI"/>
                        </a:rPr>
                        <a:t>6–12 mo</a:t>
                      </a:r>
                    </a:p>
                  </a:txBody>
                  <a:tcPr>
                    <a:solidFill>
                      <a:srgbClr val="F4F7F9"/>
                    </a:solidFill>
                  </a:tcPr>
                </a:tc>
                <a:tc>
                  <a:txBody>
                    <a:bodyPr/>
                    <a:lstStyle/>
                    <a:p>
                      <a:pPr algn="ctr"/>
                      <a:r>
                        <a:rPr sz="1250">
                          <a:solidFill>
                            <a:srgbClr val="1A1A1A"/>
                          </a:solidFill>
                          <a:latin typeface="Segoe UI"/>
                        </a:rPr>
                        <a:t>Eviction study + OSS release</a:t>
                      </a:r>
                    </a:p>
                  </a:txBody>
                  <a:tcPr>
                    <a:solidFill>
                      <a:srgbClr val="F4F7F9"/>
                    </a:solidFill>
                  </a:tcPr>
                </a:tc>
                <a:tc>
                  <a:txBody>
                    <a:bodyPr/>
                    <a:lstStyle/>
                    <a:p>
                      <a:pPr algn="ctr"/>
                      <a:r>
                        <a:rPr sz="1250" b="1">
                          <a:solidFill>
                            <a:srgbClr val="0B6E7A"/>
                          </a:solidFill>
                          <a:latin typeface="Segoe UI"/>
                        </a:rPr>
                        <a:t>adoption + citations</a:t>
                      </a:r>
                    </a:p>
                  </a:txBody>
                  <a:tcPr>
                    <a:solidFill>
                      <a:srgbClr val="F4F7F9"/>
                    </a:solidFill>
                  </a:tcPr>
                </a:tc>
                <a:extLst>
                  <a:ext uri="{0D108BD9-81ED-4DB2-BD59-A6C34878D82A}">
                    <a16:rowId xmlns:a16="http://schemas.microsoft.com/office/drawing/2014/main" val="10004"/>
                  </a:ext>
                </a:extLst>
              </a:tr>
              <a:tr h="548640">
                <a:tc>
                  <a:txBody>
                    <a:bodyPr/>
                    <a:lstStyle/>
                    <a:p>
                      <a:pPr algn="l"/>
                      <a:r>
                        <a:rPr sz="1250">
                          <a:solidFill>
                            <a:srgbClr val="1A1A1A"/>
                          </a:solidFill>
                          <a:latin typeface="Segoe UI"/>
                        </a:rPr>
                        <a:t>12–36 mo</a:t>
                      </a:r>
                    </a:p>
                  </a:txBody>
                  <a:tcPr>
                    <a:solidFill>
                      <a:srgbClr val="FFFFFF"/>
                    </a:solidFill>
                  </a:tcPr>
                </a:tc>
                <a:tc>
                  <a:txBody>
                    <a:bodyPr/>
                    <a:lstStyle/>
                    <a:p>
                      <a:pPr algn="ctr"/>
                      <a:r>
                        <a:rPr sz="1250">
                          <a:solidFill>
                            <a:srgbClr val="1A1A1A"/>
                          </a:solidFill>
                          <a:latin typeface="Segoe UI"/>
                        </a:rPr>
                        <a:t>Spin-out / license / upstream</a:t>
                      </a:r>
                    </a:p>
                  </a:txBody>
                  <a:tcPr>
                    <a:solidFill>
                      <a:srgbClr val="FFFFFF"/>
                    </a:solidFill>
                  </a:tcPr>
                </a:tc>
                <a:tc>
                  <a:txBody>
                    <a:bodyPr/>
                    <a:lstStyle/>
                    <a:p>
                      <a:pPr algn="ctr"/>
                      <a:r>
                        <a:rPr sz="1250" b="1">
                          <a:solidFill>
                            <a:srgbClr val="0B6E7A"/>
                          </a:solidFill>
                          <a:latin typeface="Segoe UI"/>
                        </a:rPr>
                        <a:t>value capture</a:t>
                      </a:r>
                    </a:p>
                  </a:txBody>
                  <a:tcP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8595360" y="1828800"/>
            <a:ext cx="2926080" cy="32918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778240" y="2194560"/>
            <a:ext cx="2560320" cy="2743200"/>
          </a:xfrm>
          <a:prstGeom prst="rect">
            <a:avLst/>
          </a:prstGeom>
          <a:noFill/>
        </p:spPr>
        <p:txBody>
          <a:bodyPr wrap="square" anchor="ctr">
            <a:spAutoFit/>
          </a:bodyPr>
          <a:lstStyle/>
          <a:p>
            <a:pPr algn="ctr">
              <a:lnSpc>
                <a:spcPct val="115000"/>
              </a:lnSpc>
              <a:spcAft>
                <a:spcPts val="600"/>
              </a:spcAft>
            </a:pPr>
            <a:r>
              <a:rPr sz="2800" b="1" i="0">
                <a:solidFill>
                  <a:srgbClr val="FFFFFF"/>
                </a:solidFill>
                <a:latin typeface="Segoe UI"/>
              </a:rPr>
              <a:t>€80K–200K</a:t>
            </a:r>
          </a:p>
          <a:p>
            <a:pPr algn="ctr">
              <a:lnSpc>
                <a:spcPct val="115000"/>
              </a:lnSpc>
              <a:spcAft>
                <a:spcPts val="600"/>
              </a:spcAft>
            </a:pPr>
            <a:r>
              <a:rPr sz="1500" b="0" i="0">
                <a:solidFill>
                  <a:srgbClr val="F4F7F9"/>
                </a:solidFill>
                <a:latin typeface="Segoe UI"/>
              </a:rPr>
              <a:t>hardware POC</a:t>
            </a:r>
          </a:p>
          <a:p>
            <a:pPr algn="ctr">
              <a:lnSpc>
                <a:spcPct val="115000"/>
              </a:lnSpc>
              <a:spcAft>
                <a:spcPts val="600"/>
              </a:spcAft>
            </a:pPr>
            <a:endParaRPr sz="1500" b="0" i="0">
              <a:solidFill>
                <a:srgbClr val="F4F7F9"/>
              </a:solidFill>
              <a:latin typeface="Segoe UI"/>
            </a:endParaRPr>
          </a:p>
          <a:p>
            <a:pPr algn="ctr">
              <a:lnSpc>
                <a:spcPct val="115000"/>
              </a:lnSpc>
              <a:spcAft>
                <a:spcPts val="600"/>
              </a:spcAft>
            </a:pPr>
            <a:r>
              <a:rPr sz="1400" b="0" i="0">
                <a:solidFill>
                  <a:srgbClr val="FFFFFF"/>
                </a:solidFill>
                <a:latin typeface="Segoe UI"/>
              </a:rPr>
              <a:t>1 H100 node
+ CXL module
+ 6 mo engineering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55080"/>
            <a:ext cx="12191695" cy="5029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188720"/>
            <a:ext cx="10515600" cy="1463040"/>
          </a:xfrm>
          <a:prstGeom prst="rect">
            <a:avLst/>
          </a:prstGeom>
          <a:noFill/>
        </p:spPr>
        <p:txBody>
          <a:bodyPr wrap="square" anchor="t">
            <a:spAutoFit/>
          </a:bodyPr>
          <a:lstStyle/>
          <a:p>
            <a:pPr algn="l">
              <a:lnSpc>
                <a:spcPct val="105000"/>
              </a:lnSpc>
              <a:spcAft>
                <a:spcPts val="600"/>
              </a:spcAft>
            </a:pPr>
            <a:r>
              <a:rPr sz="3600" b="1" i="0" dirty="0">
                <a:solidFill>
                  <a:srgbClr val="FFFFFF"/>
                </a:solidFill>
                <a:latin typeface="Segoe UI"/>
              </a:rPr>
              <a:t>Turn the GPU memory wall</a:t>
            </a:r>
          </a:p>
          <a:p>
            <a:pPr algn="l">
              <a:lnSpc>
                <a:spcPct val="105000"/>
              </a:lnSpc>
              <a:spcAft>
                <a:spcPts val="600"/>
              </a:spcAft>
            </a:pPr>
            <a:r>
              <a:rPr sz="3600" b="1" i="0" dirty="0">
                <a:solidFill>
                  <a:srgbClr val="1B9AAA"/>
                </a:solidFill>
                <a:latin typeface="Segoe UI"/>
              </a:rPr>
              <a:t>into a memory hierarchy.</a:t>
            </a:r>
          </a:p>
        </p:txBody>
      </p:sp>
      <p:sp>
        <p:nvSpPr>
          <p:cNvPr id="5" name="TextBox 4"/>
          <p:cNvSpPr txBox="1"/>
          <p:nvPr/>
        </p:nvSpPr>
        <p:spPr>
          <a:xfrm>
            <a:off x="868680" y="3200400"/>
            <a:ext cx="10058400" cy="2011680"/>
          </a:xfrm>
          <a:prstGeom prst="rect">
            <a:avLst/>
          </a:prstGeom>
          <a:noFill/>
        </p:spPr>
        <p:txBody>
          <a:bodyPr wrap="square" anchor="t">
            <a:spAutoFit/>
          </a:bodyPr>
          <a:lstStyle/>
          <a:p>
            <a:pPr algn="l">
              <a:lnSpc>
                <a:spcPct val="120000"/>
              </a:lnSpc>
              <a:spcAft>
                <a:spcPts val="1400"/>
              </a:spcAft>
            </a:pPr>
            <a:r>
              <a:rPr sz="1600" b="1" i="0">
                <a:solidFill>
                  <a:srgbClr val="1B9AAA"/>
                </a:solidFill>
                <a:latin typeface="Segoe UI"/>
              </a:rPr>
              <a:t>▶  </a:t>
            </a:r>
            <a:r>
              <a:rPr sz="1700" b="0" i="0">
                <a:solidFill>
                  <a:srgbClr val="F4F7F9"/>
                </a:solidFill>
                <a:latin typeface="Segoe UI"/>
              </a:rPr>
              <a:t>Lower resume latency → real-time, long-context agents</a:t>
            </a:r>
          </a:p>
          <a:p>
            <a:pPr algn="l">
              <a:lnSpc>
                <a:spcPct val="120000"/>
              </a:lnSpc>
              <a:spcAft>
                <a:spcPts val="1400"/>
              </a:spcAft>
            </a:pPr>
            <a:r>
              <a:rPr sz="1600" b="1" i="0">
                <a:solidFill>
                  <a:srgbClr val="1B9AAA"/>
                </a:solidFill>
                <a:latin typeface="Segoe UI"/>
              </a:rPr>
              <a:t>▶  </a:t>
            </a:r>
            <a:r>
              <a:rPr sz="1700" b="0" i="0">
                <a:solidFill>
                  <a:srgbClr val="F4F7F9"/>
                </a:solidFill>
                <a:latin typeface="Segoe UI"/>
              </a:rPr>
              <a:t>Lower cost &amp; higher density → labs, hospitals, public institutions can deploy</a:t>
            </a:r>
          </a:p>
          <a:p>
            <a:pPr algn="l">
              <a:lnSpc>
                <a:spcPct val="120000"/>
              </a:lnSpc>
              <a:spcAft>
                <a:spcPts val="1400"/>
              </a:spcAft>
            </a:pPr>
            <a:r>
              <a:rPr sz="1600" b="1" i="0">
                <a:solidFill>
                  <a:srgbClr val="1B9AAA"/>
                </a:solidFill>
                <a:latin typeface="Segoe UI"/>
              </a:rPr>
              <a:t>▶  </a:t>
            </a:r>
            <a:r>
              <a:rPr sz="1700" b="0" i="0">
                <a:solidFill>
                  <a:srgbClr val="F4F7F9"/>
                </a:solidFill>
                <a:latin typeface="Segoe UI"/>
              </a:rPr>
              <a:t>More sustainable use of existing GPUs</a:t>
            </a:r>
          </a:p>
        </p:txBody>
      </p:sp>
      <p:sp>
        <p:nvSpPr>
          <p:cNvPr id="6" name="TextBox 5"/>
          <p:cNvSpPr txBox="1"/>
          <p:nvPr/>
        </p:nvSpPr>
        <p:spPr>
          <a:xfrm>
            <a:off x="868680" y="5394960"/>
            <a:ext cx="10058400" cy="640080"/>
          </a:xfrm>
          <a:prstGeom prst="rect">
            <a:avLst/>
          </a:prstGeom>
          <a:noFill/>
        </p:spPr>
        <p:txBody>
          <a:bodyPr wrap="square" anchor="t">
            <a:spAutoFit/>
          </a:bodyPr>
          <a:lstStyle/>
          <a:p>
            <a:pPr algn="l">
              <a:lnSpc>
                <a:spcPct val="100000"/>
              </a:lnSpc>
              <a:spcAft>
                <a:spcPts val="600"/>
              </a:spcAft>
            </a:pPr>
            <a:r>
              <a:rPr sz="1600" b="1" i="1">
                <a:solidFill>
                  <a:srgbClr val="FFFFFF"/>
                </a:solidFill>
                <a:latin typeface="Segoe UI"/>
              </a:rPr>
              <a:t>Make persistent AI agents practical without hyperscale infrastructure.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APPENDIX</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Supporting data: density &amp; cost</a:t>
            </a:r>
          </a:p>
        </p:txBody>
      </p:sp>
      <p:pic>
        <p:nvPicPr>
          <p:cNvPr id="6" name="Picture 5" descr="chart_density.png"/>
          <p:cNvPicPr>
            <a:picLocks noChangeAspect="1"/>
          </p:cNvPicPr>
          <p:nvPr/>
        </p:nvPicPr>
        <p:blipFill>
          <a:blip r:embed="rId3"/>
          <a:stretch>
            <a:fillRect/>
          </a:stretch>
        </p:blipFill>
        <p:spPr>
          <a:xfrm>
            <a:off x="548640" y="1828800"/>
            <a:ext cx="5394960" cy="4530169"/>
          </a:xfrm>
          <a:prstGeom prst="rect">
            <a:avLst/>
          </a:prstGeom>
        </p:spPr>
      </p:pic>
      <p:pic>
        <p:nvPicPr>
          <p:cNvPr id="7" name="Picture 6" descr="chart_cost.png"/>
          <p:cNvPicPr>
            <a:picLocks noChangeAspect="1"/>
          </p:cNvPicPr>
          <p:nvPr/>
        </p:nvPicPr>
        <p:blipFill>
          <a:blip r:embed="rId4"/>
          <a:stretch>
            <a:fillRect/>
          </a:stretch>
        </p:blipFill>
        <p:spPr>
          <a:xfrm>
            <a:off x="6217920" y="1828800"/>
            <a:ext cx="5394960" cy="448591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APPENDIX</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Reproducibility &amp; honesty</a:t>
            </a:r>
          </a:p>
        </p:txBody>
      </p:sp>
      <p:sp>
        <p:nvSpPr>
          <p:cNvPr id="6" name="Rectangle 5"/>
          <p:cNvSpPr/>
          <p:nvPr/>
        </p:nvSpPr>
        <p:spPr>
          <a:xfrm>
            <a:off x="640080" y="1828800"/>
            <a:ext cx="6583680" cy="31089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057400"/>
            <a:ext cx="6126480" cy="2743200"/>
          </a:xfrm>
          <a:prstGeom prst="rect">
            <a:avLst/>
          </a:prstGeom>
          <a:noFill/>
        </p:spPr>
        <p:txBody>
          <a:bodyPr wrap="square" anchor="t">
            <a:spAutoFit/>
          </a:bodyPr>
          <a:lstStyle/>
          <a:p>
            <a:pPr algn="l">
              <a:lnSpc>
                <a:spcPct val="125000"/>
              </a:lnSpc>
              <a:spcAft>
                <a:spcPts val="600"/>
              </a:spcAft>
            </a:pPr>
            <a:r>
              <a:rPr sz="1500" b="1" i="0" dirty="0">
                <a:solidFill>
                  <a:srgbClr val="1B9AAA"/>
                </a:solidFill>
                <a:latin typeface="Segoe UI"/>
              </a:rPr>
              <a:t>Reproduce every number:</a:t>
            </a:r>
          </a:p>
          <a:p>
            <a:pPr algn="l">
              <a:lnSpc>
                <a:spcPct val="125000"/>
              </a:lnSpc>
              <a:spcAft>
                <a:spcPts val="600"/>
              </a:spcAft>
            </a:pPr>
            <a:r>
              <a:rPr sz="1300" b="0" i="0" dirty="0">
                <a:solidFill>
                  <a:srgbClr val="FFFFFF"/>
                </a:solidFill>
                <a:latin typeface="Segoe UI"/>
              </a:rPr>
              <a:t>pip install -e ".[dev]"</a:t>
            </a:r>
          </a:p>
          <a:p>
            <a:pPr algn="l">
              <a:lnSpc>
                <a:spcPct val="125000"/>
              </a:lnSpc>
              <a:spcAft>
                <a:spcPts val="600"/>
              </a:spcAft>
            </a:pPr>
            <a:r>
              <a:rPr sz="1300" b="0" i="0" dirty="0">
                <a:solidFill>
                  <a:srgbClr val="FFFFFF"/>
                </a:solidFill>
                <a:latin typeface="Segoe UI"/>
              </a:rPr>
              <a:t>python -m </a:t>
            </a:r>
            <a:r>
              <a:rPr sz="1300" b="0" i="0" dirty="0" err="1">
                <a:solidFill>
                  <a:srgbClr val="FFFFFF"/>
                </a:solidFill>
                <a:latin typeface="Segoe UI"/>
              </a:rPr>
              <a:t>pytest</a:t>
            </a:r>
            <a:r>
              <a:rPr sz="1300" b="0" i="0" dirty="0">
                <a:solidFill>
                  <a:srgbClr val="FFFFFF"/>
                </a:solidFill>
                <a:latin typeface="Segoe UI"/>
              </a:rPr>
              <a:t> tests/ -v</a:t>
            </a:r>
          </a:p>
          <a:p>
            <a:pPr algn="l">
              <a:lnSpc>
                <a:spcPct val="125000"/>
              </a:lnSpc>
              <a:spcAft>
                <a:spcPts val="600"/>
              </a:spcAft>
            </a:pPr>
            <a:r>
              <a:rPr sz="1300" b="0" i="0" dirty="0">
                <a:solidFill>
                  <a:srgbClr val="FFFFFF"/>
                </a:solidFill>
                <a:latin typeface="Segoe UI"/>
              </a:rPr>
              <a:t>python benchmarks/run_simulation.py</a:t>
            </a:r>
          </a:p>
          <a:p>
            <a:pPr algn="l">
              <a:lnSpc>
                <a:spcPct val="125000"/>
              </a:lnSpc>
              <a:spcAft>
                <a:spcPts val="600"/>
              </a:spcAft>
            </a:pPr>
            <a:r>
              <a:rPr sz="1300" b="0" i="0" dirty="0">
                <a:solidFill>
                  <a:srgbClr val="FFFFFF"/>
                </a:solidFill>
                <a:latin typeface="Segoe UI"/>
              </a:rPr>
              <a:t>python benchmarks/run_robustness.py</a:t>
            </a:r>
          </a:p>
          <a:p>
            <a:pPr algn="l">
              <a:lnSpc>
                <a:spcPct val="125000"/>
              </a:lnSpc>
              <a:spcAft>
                <a:spcPts val="600"/>
              </a:spcAft>
            </a:pPr>
            <a:r>
              <a:rPr sz="1300" b="0" i="0" dirty="0">
                <a:solidFill>
                  <a:srgbClr val="FFFFFF"/>
                </a:solidFill>
                <a:latin typeface="Segoe UI"/>
              </a:rPr>
              <a:t>python benchmarks/compare_policies.py</a:t>
            </a:r>
          </a:p>
          <a:p>
            <a:pPr algn="l">
              <a:lnSpc>
                <a:spcPct val="125000"/>
              </a:lnSpc>
              <a:spcAft>
                <a:spcPts val="600"/>
              </a:spcAft>
            </a:pPr>
            <a:endParaRPr sz="1300" b="0" i="0" dirty="0">
              <a:solidFill>
                <a:srgbClr val="FFFFFF"/>
              </a:solidFill>
              <a:latin typeface="Segoe UI"/>
            </a:endParaRPr>
          </a:p>
          <a:p>
            <a:pPr algn="l">
              <a:lnSpc>
                <a:spcPct val="125000"/>
              </a:lnSpc>
              <a:spcAft>
                <a:spcPts val="600"/>
              </a:spcAft>
            </a:pPr>
            <a:r>
              <a:rPr sz="1300" b="0" i="0" dirty="0">
                <a:solidFill>
                  <a:srgbClr val="F4F7F9"/>
                </a:solidFill>
                <a:latin typeface="Segoe UI"/>
              </a:rPr>
              <a:t>74 automated tests · every constant from a datasheet</a:t>
            </a:r>
          </a:p>
        </p:txBody>
      </p:sp>
      <p:sp>
        <p:nvSpPr>
          <p:cNvPr id="8" name="TextBox 7"/>
          <p:cNvSpPr txBox="1"/>
          <p:nvPr/>
        </p:nvSpPr>
        <p:spPr>
          <a:xfrm>
            <a:off x="7498079" y="1828800"/>
            <a:ext cx="4114800" cy="4114800"/>
          </a:xfrm>
          <a:prstGeom prst="rect">
            <a:avLst/>
          </a:prstGeom>
          <a:noFill/>
        </p:spPr>
        <p:txBody>
          <a:bodyPr wrap="square" anchor="t">
            <a:spAutoFit/>
          </a:bodyPr>
          <a:lstStyle/>
          <a:p>
            <a:pPr algn="l">
              <a:lnSpc>
                <a:spcPct val="120000"/>
              </a:lnSpc>
              <a:spcAft>
                <a:spcPts val="600"/>
              </a:spcAft>
            </a:pPr>
            <a:r>
              <a:rPr sz="1500" b="1" i="0">
                <a:solidFill>
                  <a:srgbClr val="0B1F3A"/>
                </a:solidFill>
                <a:latin typeface="Segoe UI"/>
              </a:rPr>
              <a:t>The honesty line:</a:t>
            </a:r>
          </a:p>
          <a:p>
            <a:pPr algn="l">
              <a:lnSpc>
                <a:spcPct val="120000"/>
              </a:lnSpc>
              <a:spcAft>
                <a:spcPts val="600"/>
              </a:spcAft>
            </a:pPr>
            <a:r>
              <a:rPr sz="1500" b="0" i="1">
                <a:solidFill>
                  <a:srgbClr val="1A1A1A"/>
                </a:solidFill>
                <a:latin typeface="Segoe UI"/>
              </a:rPr>
              <a:t>“This is simulation, calibrated to published hardware specs — not yet measured on real hardware. That's exactly what the hardware-validation phase is for.”</a:t>
            </a:r>
          </a:p>
          <a:p>
            <a:pPr algn="l">
              <a:lnSpc>
                <a:spcPct val="120000"/>
              </a:lnSpc>
              <a:spcAft>
                <a:spcPts val="600"/>
              </a:spcAft>
            </a:pPr>
            <a:endParaRPr sz="1500" b="0" i="1">
              <a:solidFill>
                <a:srgbClr val="1A1A1A"/>
              </a:solidFill>
              <a:latin typeface="Segoe UI"/>
            </a:endParaRPr>
          </a:p>
          <a:p>
            <a:pPr algn="l">
              <a:lnSpc>
                <a:spcPct val="120000"/>
              </a:lnSpc>
              <a:spcAft>
                <a:spcPts val="600"/>
              </a:spcAft>
            </a:pPr>
            <a:r>
              <a:rPr sz="1200" b="0" i="0">
                <a:solidFill>
                  <a:srgbClr val="555F6B"/>
                </a:solidFill>
                <a:latin typeface="Segoe UI"/>
              </a:rPr>
              <a:t>Sources: H100 HBM3 datasheet, Samsung CMM-D CXL 2.0, NVMe Gen4, MLPerf v4.0, KIVI/KVQuant.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1681</Words>
  <Application>Microsoft Office PowerPoint</Application>
  <PresentationFormat>Widescreen</PresentationFormat>
  <Paragraphs>180</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Baha Eddine Ouni (imec)</cp:lastModifiedBy>
  <cp:revision>1</cp:revision>
  <dcterms:created xsi:type="dcterms:W3CDTF">2013-01-27T09:14:16Z</dcterms:created>
  <dcterms:modified xsi:type="dcterms:W3CDTF">2026-06-11T18:55:20Z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02d096a-b9c6-47d3-a057-0331d74161ec_Enabled">
    <vt:lpwstr>true</vt:lpwstr>
  </property>
  <property fmtid="{D5CDD505-2E9C-101B-9397-08002B2CF9AE}" pid="3" name="MSIP_Label_902d096a-b9c6-47d3-a057-0331d74161ec_SetDate">
    <vt:lpwstr>2026-06-11T17:52:26Z</vt:lpwstr>
  </property>
  <property fmtid="{D5CDD505-2E9C-101B-9397-08002B2CF9AE}" pid="4" name="MSIP_Label_902d096a-b9c6-47d3-a057-0331d74161ec_Method">
    <vt:lpwstr>Privileged</vt:lpwstr>
  </property>
  <property fmtid="{D5CDD505-2E9C-101B-9397-08002B2CF9AE}" pid="5" name="MSIP_Label_902d096a-b9c6-47d3-a057-0331d74161ec_Name">
    <vt:lpwstr>Confidential - General - Unmarked</vt:lpwstr>
  </property>
  <property fmtid="{D5CDD505-2E9C-101B-9397-08002B2CF9AE}" pid="6" name="MSIP_Label_902d096a-b9c6-47d3-a057-0331d74161ec_SiteId">
    <vt:lpwstr>a72d5a72-25ee-40f0-9bd1-067cb5b770d4</vt:lpwstr>
  </property>
  <property fmtid="{D5CDD505-2E9C-101B-9397-08002B2CF9AE}" pid="7" name="MSIP_Label_902d096a-b9c6-47d3-a057-0331d74161ec_ActionId">
    <vt:lpwstr>9754032b-be10-4330-a714-aec3d4eeaac5</vt:lpwstr>
  </property>
  <property fmtid="{D5CDD505-2E9C-101B-9397-08002B2CF9AE}" pid="8" name="MSIP_Label_902d096a-b9c6-47d3-a057-0331d74161ec_ContentBits">
    <vt:lpwstr>0</vt:lpwstr>
  </property>
  <property fmtid="{D5CDD505-2E9C-101B-9397-08002B2CF9AE}" pid="9" name="MSIP_Label_902d096a-b9c6-47d3-a057-0331d74161ec_Tag">
    <vt:lpwstr>10, 0, 1, 1</vt:lpwstr>
  </property>
</Properties>
</file>