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Persistent AI agents are coming to every enterprise. The thing stopping them isn't compute -- it's memory. Nemorix is an operating system for agent memory. In simulation, it runs 50 agents on a GPU that fits 6, wakes them 120 times faster, and cuts cost per agent by about 85%.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run an AI agent, it builds up a memory called the KV-cache -- for a long conversation that's about 20 gigabytes. A top-end H100 GPU only fits a handful. So today's engines -- vLLM, TensorRT -- do the brutal thing: when memory fills, they throw the agent's memory away. Next time it wakes, it recomputes from scratch. One to two seconds of dead time, every resume. It caps how many agents you can run, and it's expensive.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just shifted from stateless chatbots to persistent agents that run for hours. Those agents are idle 75 to 98 percent of the time -- yet their memory sits in the most expensive real estate in the data center. Nobody has built a memory manager designed for this. That's the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systems solved this in the 1960s. Your laptop runs more apps than fit in RAM by paging idle parts out to disk and back -- invisibly. We do exactly that for agents: an agent is a process, its KV-cache is its memory, and instead of deleting it when the GPU is full, we page it down to cheaper storage and bring it back in milliseconds. The idea stands on 60 years of proven theory.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Nemorix manages each agent's memory across four tiers. The star is CXL -- Compute Express Link -- 10x cheaper than GPU memory but fast enough to wake an agent in under 100 milliseconds. We add lifecycle-aware scheduling, semantic eviction that decides what's worth keeping, and progressive page-in that loads just the first layers an agent needs to start responding.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proof. Average resume latency drops from about 1,150 milliseconds to 9.5 -- 120x faster. Every one of the 50 agents now meets a 200-millisecond SLA; with recompute, zero do. Cost per agent-hour falls about 85%. And these are averaged over eight random seeds with only about 2% variation. Not one lucky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small scale, LRU and Nemorix are similar -- CXL does the heavy lifting. The difference shows at 500 agents when the hierarchy is full. Plain LRU keeps 65 agents under SLA. Nemorix keeps 273 -- over four times more -- because semantic eviction protects the agents that matter. That's our defensible algorithmic edge.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ingredient exists, but nobody combines them. vLLM is request-centric and LRU-only. Dynamo has tiers but no CXL. FlexGen and Mooncake optimize batch throughput, not agent persistence. There's CXL work -- but for training, a different problem. Nemorix is the only system at the intersection of CXL, agent-lifecycle scheduling, and semantic eviction.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imec is the right home. Nemorix's bet is CXL -- and imec has world-class CXL and memory expertise, hardware-software co-design, direct relationships with Samsung and SK Hynix, and the HPC infrastructure to validate on real hardware. Almost no one else on earth can take this from simulation to production. That's our unfair advantage.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this make money? Same playbook that built Databricks into a 62-billion dollar company: open core. The base runtime is free and open source -- that drives adoption. The enterprise version adds multi-node CXL pooling, dashboards, RBAC, and support at 15 to 25 thousand per GPU per year. And a managed cloud service for pay-per-use. A customer saving 150K a year in GPU costs happily pays us 15K -- that's 10-to-1 ROI. Year 5 target: 100 million ARR, 85% gross margin.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inference infrastructure market is 45 billion, growing 25 to 35 percent a year. Persistent agent serving is an 8 billion segment. Three exit paths: become the category leader like Kubernetes, strategic acquisition by NVIDIA or Samsung, or hardware partnerships. For imec: equity, IP, and recognition as the birthplace of AI virtual memory. Comparable exits range from 2 to 62 billion.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I'm asking for is 80 to 120 thousand euros to validate Nemorix on real hardware. The simulator is done. The next milestone is integrating with vLLM and running on a real H100 with a CXL DIMM here at imec. From there: a paper, an open-source release, and a choice of spin-out or license.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democratization. Today, running fleets of persistent agents needs hyperscale budgets. Nemorix lets a research lab, a hospital, or a public institution do it on the hardware they already have -- faster, cheaper, more sustainably. We turn the GPU memory wall into a memory hierarchy. Thank you -- I'd love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Left: Nemorix raises concurrent agents under SLA from 6 to 50 on one GPU. Right: cost per agent-hour drops about 85%. Both reproducible from results.json.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number is reproducible with these commands, and every hardware constant traces to a published datasheet. Always lead with the honesty line: this is simulation calibrated to specs, and hardware validation is the next milestone.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1280160"/>
          </a:xfrm>
          <a:prstGeom prst="rect">
            <a:avLst/>
          </a:prstGeom>
          <a:noFill/>
        </p:spPr>
        <p:txBody>
          <a:bodyPr wrap="square" anchor="t">
            <a:spAutoFit/>
          </a:bodyPr>
          <a:lstStyle/>
          <a:p>
            <a:pPr algn="l">
              <a:lnSpc>
                <a:spcPct val="100000"/>
              </a:lnSpc>
              <a:spcAft>
                <a:spcPts val="600"/>
              </a:spcAft>
            </a:pPr>
            <a:r>
              <a:rPr sz="6000" b="1" i="0">
                <a:solidFill>
                  <a:srgbClr val="FFFFFF"/>
                </a:solidFill>
                <a:latin typeface="Segoe UI"/>
              </a:rPr>
              <a:t>Nemorix</a:t>
            </a:r>
          </a:p>
        </p:txBody>
      </p:sp>
      <p:sp>
        <p:nvSpPr>
          <p:cNvPr id="5" name="TextBox 4"/>
          <p:cNvSpPr txBox="1"/>
          <p:nvPr/>
        </p:nvSpPr>
        <p:spPr>
          <a:xfrm>
            <a:off x="868680" y="2606040"/>
            <a:ext cx="10515600" cy="914400"/>
          </a:xfrm>
          <a:prstGeom prst="rect">
            <a:avLst/>
          </a:prstGeom>
          <a:noFill/>
        </p:spPr>
        <p:txBody>
          <a:bodyPr wrap="square" anchor="t">
            <a:spAutoFit/>
          </a:bodyPr>
          <a:lstStyle/>
          <a:p>
            <a:pPr algn="l">
              <a:lnSpc>
                <a:spcPct val="100000"/>
              </a:lnSpc>
              <a:spcAft>
                <a:spcPts val="600"/>
              </a:spcAft>
            </a:pPr>
            <a:r>
              <a:rPr sz="2600" b="1" i="0">
                <a:solidFill>
                  <a:srgbClr val="1B9AAA"/>
                </a:solidFill>
                <a:latin typeface="Segoe UI"/>
              </a:rPr>
              <a:t>A Virtual Memory Runtime for Persistent AI Agents</a:t>
            </a:r>
          </a:p>
        </p:txBody>
      </p:sp>
      <p:sp>
        <p:nvSpPr>
          <p:cNvPr id="6" name="TextBox 5"/>
          <p:cNvSpPr txBox="1"/>
          <p:nvPr/>
        </p:nvSpPr>
        <p:spPr>
          <a:xfrm>
            <a:off x="868680" y="3383280"/>
            <a:ext cx="10515600" cy="548640"/>
          </a:xfrm>
          <a:prstGeom prst="rect">
            <a:avLst/>
          </a:prstGeom>
          <a:noFill/>
        </p:spPr>
        <p:txBody>
          <a:bodyPr wrap="square" anchor="t">
            <a:spAutoFit/>
          </a:bodyPr>
          <a:lstStyle/>
          <a:p>
            <a:pPr algn="l">
              <a:lnSpc>
                <a:spcPct val="100000"/>
              </a:lnSpc>
              <a:spcAft>
                <a:spcPts val="600"/>
              </a:spcAft>
            </a:pPr>
            <a:r>
              <a:rPr sz="1700" b="0" i="0">
                <a:solidFill>
                  <a:srgbClr val="F4F7F9"/>
                </a:solidFill>
                <a:latin typeface="Segoe UI"/>
              </a:rPr>
              <a:t>OS-Inspired KV-Cache Tiering:  GPU VRAM → CXL → CPU RAM → SSD</a:t>
            </a:r>
          </a:p>
        </p:txBody>
      </p:sp>
      <p:sp>
        <p:nvSpPr>
          <p:cNvPr id="7" name="TextBox 6"/>
          <p:cNvSpPr txBox="1"/>
          <p:nvPr/>
        </p:nvSpPr>
        <p:spPr>
          <a:xfrm>
            <a:off x="868680" y="5212080"/>
            <a:ext cx="10515600" cy="822960"/>
          </a:xfrm>
          <a:prstGeom prst="rect">
            <a:avLst/>
          </a:prstGeom>
          <a:noFill/>
        </p:spPr>
        <p:txBody>
          <a:bodyPr wrap="square" anchor="t">
            <a:spAutoFit/>
          </a:bodyPr>
          <a:lstStyle/>
          <a:p>
            <a:pPr algn="l">
              <a:lnSpc>
                <a:spcPct val="100000"/>
              </a:lnSpc>
              <a:spcAft>
                <a:spcPts val="600"/>
              </a:spcAft>
            </a:pPr>
            <a:r>
              <a:rPr sz="1600" b="1" i="0">
                <a:solidFill>
                  <a:srgbClr val="FFFFFF"/>
                </a:solidFill>
                <a:latin typeface="Segoe UI"/>
              </a:rPr>
              <a:t>Baha eddine Ouni</a:t>
            </a:r>
          </a:p>
          <a:p>
            <a:pPr algn="l">
              <a:lnSpc>
                <a:spcPct val="100000"/>
              </a:lnSpc>
              <a:spcAft>
                <a:spcPts val="600"/>
              </a:spcAft>
            </a:pPr>
            <a:r>
              <a:rPr sz="1300" b="0" i="0">
                <a:solidFill>
                  <a:srgbClr val="F4F7F9"/>
                </a:solidFill>
                <a:latin typeface="Segoe UI"/>
              </a:rPr>
              <a:t>imec Innovation Challenge · 2026  ·  Ask: new internal R&amp;D track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PROBLEM</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AI agents lose their memory when the GPU fills up</a:t>
            </a:r>
          </a:p>
        </p:txBody>
      </p:sp>
      <p:sp>
        <p:nvSpPr>
          <p:cNvPr id="6" name="TextBox 5"/>
          <p:cNvSpPr txBox="1"/>
          <p:nvPr/>
        </p:nvSpPr>
        <p:spPr>
          <a:xfrm>
            <a:off x="640080" y="1828800"/>
            <a:ext cx="6675120" cy="3657600"/>
          </a:xfrm>
          <a:prstGeom prst="rect">
            <a:avLst/>
          </a:prstGeom>
          <a:noFill/>
        </p:spPr>
        <p:txBody>
          <a:bodyPr wrap="square" anchor="t">
            <a:spAutoFit/>
          </a:bodyPr>
          <a:lstStyle/>
          <a:p>
            <a:pPr algn="l">
              <a:lnSpc>
                <a:spcPct val="115000"/>
              </a:lnSpc>
              <a:spcAft>
                <a:spcPts val="1800"/>
              </a:spcAft>
            </a:pPr>
            <a:r>
              <a:rPr sz="1600" b="1" i="0">
                <a:solidFill>
                  <a:srgbClr val="1B9AAA"/>
                </a:solidFill>
                <a:latin typeface="Segoe UI"/>
              </a:rPr>
              <a:t>▶  </a:t>
            </a:r>
            <a:r>
              <a:rPr sz="1700" b="0" i="0">
                <a:solidFill>
                  <a:srgbClr val="1A1A1A"/>
                </a:solidFill>
                <a:latin typeface="Segoe UI"/>
              </a:rPr>
              <a:t>One long-context agent = ~20 GB of KV-cache. An 80 GB H100 fits only 4–6 agents.</a:t>
            </a:r>
          </a:p>
          <a:p>
            <a:pPr algn="l">
              <a:lnSpc>
                <a:spcPct val="115000"/>
              </a:lnSpc>
              <a:spcAft>
                <a:spcPts val="1800"/>
              </a:spcAft>
            </a:pPr>
            <a:r>
              <a:rPr sz="1600" b="1" i="0">
                <a:solidFill>
                  <a:srgbClr val="1B9AAA"/>
                </a:solidFill>
                <a:latin typeface="Segoe UI"/>
              </a:rPr>
              <a:t>▶  </a:t>
            </a:r>
            <a:r>
              <a:rPr sz="1700" b="0" i="0">
                <a:solidFill>
                  <a:srgbClr val="1A1A1A"/>
                </a:solidFill>
                <a:latin typeface="Segoe UI"/>
              </a:rPr>
              <a:t>When VRAM fills, today's engines discard agent context and recompute from scratch.</a:t>
            </a:r>
          </a:p>
          <a:p>
            <a:pPr algn="l">
              <a:lnSpc>
                <a:spcPct val="115000"/>
              </a:lnSpc>
              <a:spcAft>
                <a:spcPts val="1800"/>
              </a:spcAft>
            </a:pPr>
            <a:r>
              <a:rPr sz="1600" b="1" i="0">
                <a:solidFill>
                  <a:srgbClr val="1B9AAA"/>
                </a:solidFill>
                <a:latin typeface="Segoe UI"/>
              </a:rPr>
              <a:t>▶  </a:t>
            </a:r>
            <a:r>
              <a:rPr sz="1700" b="0" i="0">
                <a:solidFill>
                  <a:srgbClr val="1A1A1A"/>
                </a:solidFill>
                <a:latin typeface="Segoe UI"/>
              </a:rPr>
              <a:t>Recompute cost: 1–2 seconds of latency on every single wake-up.</a:t>
            </a:r>
          </a:p>
          <a:p>
            <a:pPr algn="l">
              <a:lnSpc>
                <a:spcPct val="115000"/>
              </a:lnSpc>
              <a:spcAft>
                <a:spcPts val="1800"/>
              </a:spcAft>
            </a:pPr>
            <a:r>
              <a:rPr sz="1600" b="1" i="0">
                <a:solidFill>
                  <a:srgbClr val="1B9AAA"/>
                </a:solidFill>
                <a:latin typeface="Segoe UI"/>
              </a:rPr>
              <a:t>▶  </a:t>
            </a:r>
            <a:r>
              <a:rPr sz="1700" b="0" i="0">
                <a:solidFill>
                  <a:srgbClr val="1A1A1A"/>
                </a:solidFill>
                <a:latin typeface="Segoe UI"/>
              </a:rPr>
              <a:t>Result: low agent density, slow resumes, high cost.</a:t>
            </a:r>
          </a:p>
        </p:txBody>
      </p:sp>
      <p:sp>
        <p:nvSpPr>
          <p:cNvPr id="7" name="Rectangle 6"/>
          <p:cNvSpPr/>
          <p:nvPr/>
        </p:nvSpPr>
        <p:spPr>
          <a:xfrm>
            <a:off x="7680960" y="1828800"/>
            <a:ext cx="3840480" cy="31089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2148840"/>
            <a:ext cx="3474720" cy="2743200"/>
          </a:xfrm>
          <a:prstGeom prst="rect">
            <a:avLst/>
          </a:prstGeom>
          <a:noFill/>
        </p:spPr>
        <p:txBody>
          <a:bodyPr wrap="square" anchor="ctr">
            <a:spAutoFit/>
          </a:bodyPr>
          <a:lstStyle/>
          <a:p>
            <a:pPr algn="ctr">
              <a:lnSpc>
                <a:spcPct val="100000"/>
              </a:lnSpc>
              <a:spcAft>
                <a:spcPts val="600"/>
              </a:spcAft>
            </a:pPr>
            <a:r>
              <a:rPr sz="5400" b="1" i="0">
                <a:solidFill>
                  <a:srgbClr val="F49D37"/>
                </a:solidFill>
                <a:latin typeface="Segoe UI"/>
              </a:rPr>
              <a:t>1–2 s</a:t>
            </a:r>
          </a:p>
          <a:p>
            <a:pPr algn="ctr">
              <a:lnSpc>
                <a:spcPct val="100000"/>
              </a:lnSpc>
              <a:spcAft>
                <a:spcPts val="600"/>
              </a:spcAft>
            </a:pPr>
            <a:r>
              <a:rPr sz="1600" b="0" i="0">
                <a:solidFill>
                  <a:srgbClr val="FFFFFF"/>
                </a:solidFill>
                <a:latin typeface="Segoe UI"/>
              </a:rPr>
              <a:t>wasted on every</a:t>
            </a:r>
          </a:p>
          <a:p>
            <a:pPr algn="ctr">
              <a:lnSpc>
                <a:spcPct val="100000"/>
              </a:lnSpc>
              <a:spcAft>
                <a:spcPts val="600"/>
              </a:spcAft>
            </a:pPr>
            <a:r>
              <a:rPr sz="1600" b="0" i="0">
                <a:solidFill>
                  <a:srgbClr val="FFFFFF"/>
                </a:solidFill>
                <a:latin typeface="Segoe UI"/>
              </a:rPr>
              <a:t>agent resume</a:t>
            </a:r>
          </a:p>
          <a:p>
            <a:pPr algn="ctr">
              <a:lnSpc>
                <a:spcPct val="100000"/>
              </a:lnSpc>
              <a:spcAft>
                <a:spcPts val="600"/>
              </a:spcAft>
            </a:pPr>
            <a:r>
              <a:rPr sz="800" b="0" i="0">
                <a:solidFill>
                  <a:srgbClr val="FFFFFF"/>
                </a:solidFill>
                <a:latin typeface="Segoe UI"/>
              </a:rPr>
              <a:t/>
            </a:r>
          </a:p>
          <a:p>
            <a:pPr algn="ctr">
              <a:lnSpc>
                <a:spcPct val="100000"/>
              </a:lnSpc>
              <a:spcAft>
                <a:spcPts val="600"/>
              </a:spcAft>
            </a:pPr>
            <a:r>
              <a:rPr sz="2200" b="1" i="0">
                <a:solidFill>
                  <a:srgbClr val="D7263D"/>
                </a:solidFill>
                <a:latin typeface="Segoe UI"/>
              </a:rPr>
              <a:t>0 of 50 agents</a:t>
            </a:r>
          </a:p>
          <a:p>
            <a:pPr algn="ctr">
              <a:lnSpc>
                <a:spcPct val="100000"/>
              </a:lnSpc>
              <a:spcAft>
                <a:spcPts val="600"/>
              </a:spcAft>
            </a:pPr>
            <a:r>
              <a:rPr sz="1400" b="0" i="0">
                <a:solidFill>
                  <a:srgbClr val="F4F7F9"/>
                </a:solidFill>
                <a:latin typeface="Segoe UI"/>
              </a:rPr>
              <a:t>meet a 200 ms SLA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WHY NOW</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The bottleneck isn't compute — it's memory management</a:t>
            </a:r>
          </a:p>
        </p:txBody>
      </p:sp>
      <p:sp>
        <p:nvSpPr>
          <p:cNvPr id="6" name="TextBox 5"/>
          <p:cNvSpPr txBox="1"/>
          <p:nvPr/>
        </p:nvSpPr>
        <p:spPr>
          <a:xfrm>
            <a:off x="640080" y="1783080"/>
            <a:ext cx="10972800" cy="731520"/>
          </a:xfrm>
          <a:prstGeom prst="rect">
            <a:avLst/>
          </a:prstGeom>
          <a:noFill/>
        </p:spPr>
        <p:txBody>
          <a:bodyPr wrap="square" anchor="t">
            <a:spAutoFit/>
          </a:bodyPr>
          <a:lstStyle/>
          <a:p>
            <a:pPr algn="l">
              <a:lnSpc>
                <a:spcPct val="110000"/>
              </a:lnSpc>
              <a:spcAft>
                <a:spcPts val="600"/>
              </a:spcAft>
            </a:pPr>
            <a:r>
              <a:rPr sz="1800" b="1" i="0">
                <a:solidFill>
                  <a:srgbClr val="0B1F3A"/>
                </a:solidFill>
                <a:latin typeface="Segoe UI"/>
              </a:rPr>
              <a:t>The bottleneck in agentic AI is the absence of a memory layer built for agent persistence.</a:t>
            </a:r>
          </a:p>
        </p:txBody>
      </p:sp>
      <p:sp>
        <p:nvSpPr>
          <p:cNvPr id="7" name="Rectangle 6"/>
          <p:cNvSpPr/>
          <p:nvPr/>
        </p:nvSpPr>
        <p:spPr>
          <a:xfrm>
            <a:off x="640080"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743200"/>
            <a:ext cx="3520440" cy="91440"/>
          </a:xfrm>
          <a:prstGeom prst="rect">
            <a:avLst/>
          </a:prstGeom>
          <a:solidFill>
            <a:srgbClr val="F49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F49D37"/>
                </a:solidFill>
                <a:latin typeface="Segoe UI"/>
              </a:rPr>
              <a:t>75–98%</a:t>
            </a:r>
          </a:p>
        </p:txBody>
      </p:sp>
      <p:sp>
        <p:nvSpPr>
          <p:cNvPr id="10" name="TextBox 9"/>
          <p:cNvSpPr txBox="1"/>
          <p:nvPr/>
        </p:nvSpPr>
        <p:spPr>
          <a:xfrm>
            <a:off x="640080"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of an agent's life is spent idle
(waiting on humans, tools, CI)</a:t>
            </a:r>
          </a:p>
        </p:txBody>
      </p:sp>
      <p:sp>
        <p:nvSpPr>
          <p:cNvPr id="11" name="Rectangle 10"/>
          <p:cNvSpPr/>
          <p:nvPr/>
        </p:nvSpPr>
        <p:spPr>
          <a:xfrm>
            <a:off x="4389119"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19" y="2743200"/>
            <a:ext cx="352044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19"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100s</a:t>
            </a:r>
          </a:p>
        </p:txBody>
      </p:sp>
      <p:sp>
        <p:nvSpPr>
          <p:cNvPr id="14" name="TextBox 13"/>
          <p:cNvSpPr txBox="1"/>
          <p:nvPr/>
        </p:nvSpPr>
        <p:spPr>
          <a:xfrm>
            <a:off x="4389119"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of concurrent agents enterprises
want — not six</a:t>
            </a:r>
          </a:p>
        </p:txBody>
      </p:sp>
      <p:sp>
        <p:nvSpPr>
          <p:cNvPr id="15" name="Rectangle 14"/>
          <p:cNvSpPr/>
          <p:nvPr/>
        </p:nvSpPr>
        <p:spPr>
          <a:xfrm>
            <a:off x="8138158" y="2743200"/>
            <a:ext cx="3520440" cy="24688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58" y="2743200"/>
            <a:ext cx="3520440" cy="91440"/>
          </a:xfrm>
          <a:prstGeom prst="rect">
            <a:avLst/>
          </a:prstGeom>
          <a:solidFill>
            <a:srgbClr val="0B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58" y="2999232"/>
            <a:ext cx="3520440" cy="777240"/>
          </a:xfrm>
          <a:prstGeom prst="rect">
            <a:avLst/>
          </a:prstGeom>
          <a:noFill/>
        </p:spPr>
        <p:txBody>
          <a:bodyPr wrap="square" anchor="ctr">
            <a:spAutoFit/>
          </a:bodyPr>
          <a:lstStyle/>
          <a:p>
            <a:pPr algn="ctr">
              <a:lnSpc>
                <a:spcPct val="100000"/>
              </a:lnSpc>
              <a:spcAft>
                <a:spcPts val="600"/>
              </a:spcAft>
            </a:pPr>
            <a:r>
              <a:rPr sz="3400" b="1" i="0">
                <a:solidFill>
                  <a:srgbClr val="0B6E7A"/>
                </a:solidFill>
                <a:latin typeface="Segoe UI"/>
              </a:rPr>
              <a:t>2024–26</a:t>
            </a:r>
          </a:p>
        </p:txBody>
      </p:sp>
      <p:sp>
        <p:nvSpPr>
          <p:cNvPr id="18" name="TextBox 17"/>
          <p:cNvSpPr txBox="1"/>
          <p:nvPr/>
        </p:nvSpPr>
        <p:spPr>
          <a:xfrm>
            <a:off x="8138158" y="4343400"/>
            <a:ext cx="352044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shift from stateless chat to
persistent, long-running agents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INSIGHT</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Agents are processes. KV-cache is virtual memory.</a:t>
            </a:r>
          </a:p>
        </p:txBody>
      </p:sp>
      <p:graphicFrame>
        <p:nvGraphicFramePr>
          <p:cNvPr id="6" name="Table 5"/>
          <p:cNvGraphicFramePr>
            <a:graphicFrameLocks noGrp="1"/>
          </p:cNvGraphicFramePr>
          <p:nvPr/>
        </p:nvGraphicFramePr>
        <p:xfrm>
          <a:off x="640080" y="1828800"/>
          <a:ext cx="6766560" cy="3291840"/>
        </p:xfrm>
        <a:graphic>
          <a:graphicData uri="http://schemas.openxmlformats.org/drawingml/2006/table">
            <a:tbl>
              <a:tblPr firstRow="1" bandRow="1">
                <a:tableStyleId>{5C22544A-7EE6-4342-B048-85BDC9FD1C3A}</a:tableStyleId>
              </a:tblPr>
              <a:tblGrid>
                <a:gridCol w="3383280"/>
                <a:gridCol w="3383280"/>
              </a:tblGrid>
              <a:tr h="548640">
                <a:tc>
                  <a:txBody>
                    <a:bodyPr wrap="square"/>
                    <a:lstStyle/>
                    <a:p>
                      <a:pPr algn="l"/>
                      <a:r>
                        <a:rPr sz="1400" b="1">
                          <a:solidFill>
                            <a:srgbClr val="FFFFFF"/>
                          </a:solidFill>
                          <a:latin typeface="Segoe UI"/>
                        </a:rPr>
                        <a:t>Operating System</a:t>
                      </a:r>
                    </a:p>
                  </a:txBody>
                  <a:tcPr>
                    <a:solidFill>
                      <a:srgbClr val="0B1F3A"/>
                    </a:solidFill>
                  </a:tcPr>
                </a:tc>
                <a:tc>
                  <a:txBody>
                    <a:bodyPr wrap="square"/>
                    <a:lstStyle/>
                    <a:p>
                      <a:pPr algn="ctr"/>
                      <a:r>
                        <a:rPr sz="1400" b="1">
                          <a:solidFill>
                            <a:srgbClr val="FFFFFF"/>
                          </a:solidFill>
                          <a:latin typeface="Segoe UI"/>
                        </a:rPr>
                        <a:t>Nemorix</a:t>
                      </a:r>
                    </a:p>
                  </a:txBody>
                  <a:tcPr>
                    <a:solidFill>
                      <a:srgbClr val="0B1F3A"/>
                    </a:solidFill>
                  </a:tcPr>
                </a:tc>
              </a:tr>
              <a:tr h="548640">
                <a:tc>
                  <a:txBody>
                    <a:bodyPr wrap="square"/>
                    <a:lstStyle/>
                    <a:p>
                      <a:pPr algn="l"/>
                      <a:r>
                        <a:rPr sz="1400">
                          <a:solidFill>
                            <a:srgbClr val="1A1A1A"/>
                          </a:solidFill>
                          <a:latin typeface="Segoe UI"/>
                        </a:rPr>
                        <a:t>Process</a:t>
                      </a:r>
                    </a:p>
                  </a:txBody>
                  <a:tcPr>
                    <a:solidFill>
                      <a:srgbClr val="FFFFFF"/>
                    </a:solidFill>
                  </a:tcPr>
                </a:tc>
                <a:tc>
                  <a:txBody>
                    <a:bodyPr wrap="square"/>
                    <a:lstStyle/>
                    <a:p>
                      <a:pPr algn="ctr"/>
                      <a:r>
                        <a:rPr sz="1400" b="1">
                          <a:solidFill>
                            <a:srgbClr val="0B6E7A"/>
                          </a:solidFill>
                          <a:latin typeface="Segoe UI"/>
                        </a:rPr>
                        <a:t>AI agent</a:t>
                      </a:r>
                    </a:p>
                  </a:txBody>
                  <a:tcPr>
                    <a:solidFill>
                      <a:srgbClr val="FFFFFF"/>
                    </a:solidFill>
                  </a:tcPr>
                </a:tc>
              </a:tr>
              <a:tr h="548640">
                <a:tc>
                  <a:txBody>
                    <a:bodyPr wrap="square"/>
                    <a:lstStyle/>
                    <a:p>
                      <a:pPr algn="l"/>
                      <a:r>
                        <a:rPr sz="1400">
                          <a:solidFill>
                            <a:srgbClr val="1A1A1A"/>
                          </a:solidFill>
                          <a:latin typeface="Segoe UI"/>
                        </a:rPr>
                        <a:t>RAM (fast, small)</a:t>
                      </a:r>
                    </a:p>
                  </a:txBody>
                  <a:tcPr>
                    <a:solidFill>
                      <a:srgbClr val="F4F7F9"/>
                    </a:solidFill>
                  </a:tcPr>
                </a:tc>
                <a:tc>
                  <a:txBody>
                    <a:bodyPr wrap="square"/>
                    <a:lstStyle/>
                    <a:p>
                      <a:pPr algn="ctr"/>
                      <a:r>
                        <a:rPr sz="1400" b="1">
                          <a:solidFill>
                            <a:srgbClr val="0B6E7A"/>
                          </a:solidFill>
                          <a:latin typeface="Segoe UI"/>
                        </a:rPr>
                        <a:t>GPU VRAM</a:t>
                      </a:r>
                    </a:p>
                  </a:txBody>
                  <a:tcPr>
                    <a:solidFill>
                      <a:srgbClr val="F4F7F9"/>
                    </a:solidFill>
                  </a:tcPr>
                </a:tc>
              </a:tr>
              <a:tr h="548640">
                <a:tc>
                  <a:txBody>
                    <a:bodyPr wrap="square"/>
                    <a:lstStyle/>
                    <a:p>
                      <a:pPr algn="l"/>
                      <a:r>
                        <a:rPr sz="1400">
                          <a:solidFill>
                            <a:srgbClr val="1A1A1A"/>
                          </a:solidFill>
                          <a:latin typeface="Segoe UI"/>
                        </a:rPr>
                        <a:t>Swap / disk (slow, big)</a:t>
                      </a:r>
                    </a:p>
                  </a:txBody>
                  <a:tcPr>
                    <a:solidFill>
                      <a:srgbClr val="FFFFFF"/>
                    </a:solidFill>
                  </a:tcPr>
                </a:tc>
                <a:tc>
                  <a:txBody>
                    <a:bodyPr wrap="square"/>
                    <a:lstStyle/>
                    <a:p>
                      <a:pPr algn="ctr"/>
                      <a:r>
                        <a:rPr sz="1400" b="1">
                          <a:solidFill>
                            <a:srgbClr val="0B6E7A"/>
                          </a:solidFill>
                          <a:latin typeface="Segoe UI"/>
                        </a:rPr>
                        <a:t>CXL → RAM → SSD</a:t>
                      </a:r>
                    </a:p>
                  </a:txBody>
                  <a:tcPr>
                    <a:solidFill>
                      <a:srgbClr val="FFFFFF"/>
                    </a:solidFill>
                  </a:tcPr>
                </a:tc>
              </a:tr>
              <a:tr h="548640">
                <a:tc>
                  <a:txBody>
                    <a:bodyPr wrap="square"/>
                    <a:lstStyle/>
                    <a:p>
                      <a:pPr algn="l"/>
                      <a:r>
                        <a:rPr sz="1400">
                          <a:solidFill>
                            <a:srgbClr val="1A1A1A"/>
                          </a:solidFill>
                          <a:latin typeface="Segoe UI"/>
                        </a:rPr>
                        <a:t>Page fault</a:t>
                      </a:r>
                    </a:p>
                  </a:txBody>
                  <a:tcPr>
                    <a:solidFill>
                      <a:srgbClr val="F4F7F9"/>
                    </a:solidFill>
                  </a:tcPr>
                </a:tc>
                <a:tc>
                  <a:txBody>
                    <a:bodyPr wrap="square"/>
                    <a:lstStyle/>
                    <a:p>
                      <a:pPr algn="ctr"/>
                      <a:r>
                        <a:rPr sz="1400" b="1">
                          <a:solidFill>
                            <a:srgbClr val="0B6E7A"/>
                          </a:solidFill>
                          <a:latin typeface="Segoe UI"/>
                        </a:rPr>
                        <a:t>Agent wakes, cache not in GPU</a:t>
                      </a:r>
                    </a:p>
                  </a:txBody>
                  <a:tcPr>
                    <a:solidFill>
                      <a:srgbClr val="F4F7F9"/>
                    </a:solidFill>
                  </a:tcPr>
                </a:tc>
              </a:tr>
              <a:tr h="548640">
                <a:tc>
                  <a:txBody>
                    <a:bodyPr wrap="square"/>
                    <a:lstStyle/>
                    <a:p>
                      <a:pPr algn="l"/>
                      <a:r>
                        <a:rPr sz="1400">
                          <a:solidFill>
                            <a:srgbClr val="1A1A1A"/>
                          </a:solidFill>
                          <a:latin typeface="Segoe UI"/>
                        </a:rPr>
                        <a:t>Page replacement (LRU)</a:t>
                      </a:r>
                    </a:p>
                  </a:txBody>
                  <a:tcPr>
                    <a:solidFill>
                      <a:srgbClr val="FFFFFF"/>
                    </a:solidFill>
                  </a:tcPr>
                </a:tc>
                <a:tc>
                  <a:txBody>
                    <a:bodyPr wrap="square"/>
                    <a:lstStyle/>
                    <a:p>
                      <a:pPr algn="ctr"/>
                      <a:r>
                        <a:rPr sz="1400" b="1">
                          <a:solidFill>
                            <a:srgbClr val="0B6E7A"/>
                          </a:solidFill>
                          <a:latin typeface="Segoe UI"/>
                        </a:rPr>
                        <a:t>Semantic eviction</a:t>
                      </a:r>
                    </a:p>
                  </a:txBody>
                  <a:tcPr>
                    <a:solidFill>
                      <a:srgbClr val="FFFFFF"/>
                    </a:solidFill>
                  </a:tcPr>
                </a:tc>
              </a:tr>
            </a:tbl>
          </a:graphicData>
        </a:graphic>
      </p:graphicFrame>
      <p:sp>
        <p:nvSpPr>
          <p:cNvPr id="7" name="Rectangle 6"/>
          <p:cNvSpPr/>
          <p:nvPr/>
        </p:nvSpPr>
        <p:spPr>
          <a:xfrm>
            <a:off x="7772400" y="1828800"/>
            <a:ext cx="3749039" cy="32918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2194560"/>
            <a:ext cx="3383280" cy="2651760"/>
          </a:xfrm>
          <a:prstGeom prst="rect">
            <a:avLst/>
          </a:prstGeom>
          <a:noFill/>
        </p:spPr>
        <p:txBody>
          <a:bodyPr wrap="square" anchor="ctr">
            <a:spAutoFit/>
          </a:bodyPr>
          <a:lstStyle/>
          <a:p>
            <a:pPr algn="ctr">
              <a:lnSpc>
                <a:spcPct val="105000"/>
              </a:lnSpc>
              <a:spcAft>
                <a:spcPts val="600"/>
              </a:spcAft>
            </a:pPr>
            <a:r>
              <a:rPr sz="3000" b="1" i="0">
                <a:solidFill>
                  <a:srgbClr val="FFFFFF"/>
                </a:solidFill>
                <a:latin typeface="Segoe UI"/>
              </a:rPr>
              <a:t>Page it,</a:t>
            </a:r>
          </a:p>
          <a:p>
            <a:pPr algn="ctr">
              <a:lnSpc>
                <a:spcPct val="105000"/>
              </a:lnSpc>
              <a:spcAft>
                <a:spcPts val="600"/>
              </a:spcAft>
            </a:pPr>
            <a:r>
              <a:rPr sz="3000" b="1" i="0">
                <a:solidFill>
                  <a:srgbClr val="FFFFFF"/>
                </a:solidFill>
                <a:latin typeface="Segoe UI"/>
              </a:rPr>
              <a:t>don't delete it.</a:t>
            </a:r>
          </a:p>
          <a:p>
            <a:pPr algn="ctr">
              <a:lnSpc>
                <a:spcPct val="105000"/>
              </a:lnSpc>
              <a:spcAft>
                <a:spcPts val="600"/>
              </a:spcAft>
            </a:pPr>
            <a:r>
              <a:rPr sz="1000" b="0" i="0">
                <a:solidFill>
                  <a:srgbClr val="FFFFFF"/>
                </a:solidFill>
                <a:latin typeface="Segoe UI"/>
              </a:rPr>
              <a:t/>
            </a:r>
          </a:p>
          <a:p>
            <a:pPr algn="ctr">
              <a:lnSpc>
                <a:spcPct val="105000"/>
              </a:lnSpc>
              <a:spcAft>
                <a:spcPts val="600"/>
              </a:spcAft>
            </a:pPr>
            <a:r>
              <a:rPr sz="1400" b="0" i="0">
                <a:solidFill>
                  <a:srgbClr val="F4F7F9"/>
                </a:solidFill>
                <a:latin typeface="Segoe UI"/>
              </a:rPr>
              <a:t>60 years of proven OS theory, applied to AI agents for the first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SOLUTION</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A 4-tier memory runtime for agent KV-cache</a:t>
            </a:r>
          </a:p>
        </p:txBody>
      </p:sp>
      <p:pic>
        <p:nvPicPr>
          <p:cNvPr id="6" name="Picture 5" descr="chart_tiers.png"/>
          <p:cNvPicPr>
            <a:picLocks noChangeAspect="1"/>
          </p:cNvPicPr>
          <p:nvPr/>
        </p:nvPicPr>
        <p:blipFill>
          <a:blip r:embed="rId2"/>
          <a:stretch>
            <a:fillRect/>
          </a:stretch>
        </p:blipFill>
        <p:spPr>
          <a:xfrm>
            <a:off x="457200" y="1783080"/>
            <a:ext cx="6766560" cy="4827755"/>
          </a:xfrm>
          <a:prstGeom prst="rect">
            <a:avLst/>
          </a:prstGeom>
        </p:spPr>
      </p:pic>
      <p:sp>
        <p:nvSpPr>
          <p:cNvPr id="7" name="TextBox 6"/>
          <p:cNvSpPr txBox="1"/>
          <p:nvPr/>
        </p:nvSpPr>
        <p:spPr>
          <a:xfrm>
            <a:off x="7406640" y="1874519"/>
            <a:ext cx="4206240" cy="4206240"/>
          </a:xfrm>
          <a:prstGeom prst="rect">
            <a:avLst/>
          </a:prstGeom>
          <a:noFill/>
        </p:spPr>
        <p:txBody>
          <a:bodyPr wrap="square" anchor="t">
            <a:spAutoFit/>
          </a:bodyPr>
          <a:lstStyle/>
          <a:p>
            <a:pPr algn="l">
              <a:lnSpc>
                <a:spcPct val="105000"/>
              </a:lnSpc>
              <a:spcAft>
                <a:spcPts val="400"/>
              </a:spcAft>
            </a:pPr>
            <a:r>
              <a:rPr sz="1600" b="1" i="0">
                <a:solidFill>
                  <a:srgbClr val="0B1F3A"/>
                </a:solidFill>
                <a:latin typeface="Segoe UI"/>
              </a:rPr>
              <a:t>Plus four mechanisms:</a:t>
            </a:r>
          </a:p>
          <a:p>
            <a:pPr algn="l">
              <a:lnSpc>
                <a:spcPct val="105000"/>
              </a:lnSpc>
              <a:spcAft>
                <a:spcPts val="400"/>
              </a:spcAft>
            </a:pPr>
            <a:r>
              <a:rPr sz="1500" b="0" i="0">
                <a:solidFill>
                  <a:srgbClr val="1A1A1A"/>
                </a:solidFill>
                <a:latin typeface="Segoe UI"/>
              </a:rPr>
              <a:t>• Lifecycle scheduling</a:t>
            </a:r>
          </a:p>
          <a:p>
            <a:pPr algn="l">
              <a:lnSpc>
                <a:spcPct val="105000"/>
              </a:lnSpc>
              <a:spcAft>
                <a:spcPts val="400"/>
              </a:spcAft>
            </a:pPr>
            <a:r>
              <a:rPr sz="1200" b="0" i="0">
                <a:solidFill>
                  <a:srgbClr val="555F6B"/>
                </a:solidFill>
                <a:latin typeface="Segoe UI"/>
              </a:rPr>
              <a:t>   move idle agents down proactively</a:t>
            </a:r>
          </a:p>
          <a:p>
            <a:pPr algn="l">
              <a:lnSpc>
                <a:spcPct val="105000"/>
              </a:lnSpc>
              <a:spcAft>
                <a:spcPts val="400"/>
              </a:spcAft>
            </a:pPr>
            <a:r>
              <a:rPr sz="1500" b="0" i="0">
                <a:solidFill>
                  <a:srgbClr val="1A1A1A"/>
                </a:solidFill>
                <a:latin typeface="Segoe UI"/>
              </a:rPr>
              <a:t>• Semantic eviction</a:t>
            </a:r>
          </a:p>
          <a:p>
            <a:pPr algn="l">
              <a:lnSpc>
                <a:spcPct val="105000"/>
              </a:lnSpc>
              <a:spcAft>
                <a:spcPts val="400"/>
              </a:spcAft>
            </a:pPr>
            <a:r>
              <a:rPr sz="1200" b="0" i="0">
                <a:solidFill>
                  <a:srgbClr val="555F6B"/>
                </a:solidFill>
                <a:latin typeface="Segoe UI"/>
              </a:rPr>
              <a:t>   keep what matters most</a:t>
            </a:r>
          </a:p>
          <a:p>
            <a:pPr algn="l">
              <a:lnSpc>
                <a:spcPct val="105000"/>
              </a:lnSpc>
              <a:spcAft>
                <a:spcPts val="400"/>
              </a:spcAft>
            </a:pPr>
            <a:r>
              <a:rPr sz="1500" b="0" i="0">
                <a:solidFill>
                  <a:srgbClr val="1A1A1A"/>
                </a:solidFill>
                <a:latin typeface="Segoe UI"/>
              </a:rPr>
              <a:t>• Progressive page-in</a:t>
            </a:r>
          </a:p>
          <a:p>
            <a:pPr algn="l">
              <a:lnSpc>
                <a:spcPct val="105000"/>
              </a:lnSpc>
              <a:spcAft>
                <a:spcPts val="400"/>
              </a:spcAft>
            </a:pPr>
            <a:r>
              <a:rPr sz="1200" b="0" i="0">
                <a:solidFill>
                  <a:srgbClr val="555F6B"/>
                </a:solidFill>
                <a:latin typeface="Segoe UI"/>
              </a:rPr>
              <a:t>   load first layers, stream the rest</a:t>
            </a:r>
          </a:p>
          <a:p>
            <a:pPr algn="l">
              <a:lnSpc>
                <a:spcPct val="105000"/>
              </a:lnSpc>
              <a:spcAft>
                <a:spcPts val="400"/>
              </a:spcAft>
            </a:pPr>
            <a:r>
              <a:rPr sz="1500" b="0" i="0">
                <a:solidFill>
                  <a:srgbClr val="1A1A1A"/>
                </a:solidFill>
                <a:latin typeface="Segoe UI"/>
              </a:rPr>
              <a:t>• Compression FP16→FP8→INT4</a:t>
            </a:r>
          </a:p>
          <a:p>
            <a:pPr algn="l">
              <a:lnSpc>
                <a:spcPct val="105000"/>
              </a:lnSpc>
              <a:spcAft>
                <a:spcPts val="400"/>
              </a:spcAft>
            </a:pPr>
            <a:r>
              <a:rPr sz="1200" b="0" i="0">
                <a:solidFill>
                  <a:srgbClr val="555F6B"/>
                </a:solidFill>
                <a:latin typeface="Segoe UI"/>
              </a:rPr>
              <a:t>   per-tier, &lt;1.8% quality loss</a:t>
            </a:r>
          </a:p>
          <a:p>
            <a:pPr algn="l">
              <a:lnSpc>
                <a:spcPct val="105000"/>
              </a:lnSpc>
              <a:spcAft>
                <a:spcPts val="400"/>
              </a:spcAft>
            </a:pPr>
            <a:r>
              <a:rPr sz="800" b="0" i="0">
                <a:solidFill>
                  <a:srgbClr val="555F6B"/>
                </a:solidFill>
                <a:latin typeface="Segoe UI"/>
              </a:rPr>
              <a:t/>
            </a:r>
          </a:p>
          <a:p>
            <a:pPr algn="l">
              <a:lnSpc>
                <a:spcPct val="105000"/>
              </a:lnSpc>
              <a:spcAft>
                <a:spcPts val="400"/>
              </a:spcAft>
            </a:pPr>
            <a:r>
              <a:rPr sz="1300" b="1" i="0">
                <a:solidFill>
                  <a:srgbClr val="0B6E7A"/>
                </a:solidFill>
                <a:latin typeface="Segoe UI"/>
              </a:rPr>
              <a:t>CXL is the enabler: 10× cheaper than</a:t>
            </a:r>
          </a:p>
          <a:p>
            <a:pPr algn="l">
              <a:lnSpc>
                <a:spcPct val="105000"/>
              </a:lnSpc>
              <a:spcAft>
                <a:spcPts val="400"/>
              </a:spcAft>
            </a:pPr>
            <a:r>
              <a:rPr sz="1300" b="1" i="0">
                <a:solidFill>
                  <a:srgbClr val="0B6E7A"/>
                </a:solidFill>
                <a:latin typeface="Segoe UI"/>
              </a:rPr>
              <a:t>VRAM, fast enough for &lt;100 ms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RESULTS ★</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120× faster resume — verified across 8 seeds</a:t>
            </a:r>
          </a:p>
        </p:txBody>
      </p:sp>
      <p:pic>
        <p:nvPicPr>
          <p:cNvPr id="6" name="Picture 5" descr="chart_resume_latency.png"/>
          <p:cNvPicPr>
            <a:picLocks noChangeAspect="1"/>
          </p:cNvPicPr>
          <p:nvPr/>
        </p:nvPicPr>
        <p:blipFill>
          <a:blip r:embed="rId2"/>
          <a:stretch>
            <a:fillRect/>
          </a:stretch>
        </p:blipFill>
        <p:spPr>
          <a:xfrm>
            <a:off x="457200" y="1783080"/>
            <a:ext cx="6675120" cy="4527645"/>
          </a:xfrm>
          <a:prstGeom prst="rect">
            <a:avLst/>
          </a:prstGeom>
        </p:spPr>
      </p:pic>
      <p:sp>
        <p:nvSpPr>
          <p:cNvPr id="7" name="Rectangle 6"/>
          <p:cNvSpPr/>
          <p:nvPr/>
        </p:nvSpPr>
        <p:spPr>
          <a:xfrm>
            <a:off x="7406640" y="178308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06640" y="1783080"/>
            <a:ext cx="205740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2039112"/>
            <a:ext cx="205740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120×</a:t>
            </a:r>
          </a:p>
        </p:txBody>
      </p:sp>
      <p:sp>
        <p:nvSpPr>
          <p:cNvPr id="10" name="TextBox 9"/>
          <p:cNvSpPr txBox="1"/>
          <p:nvPr/>
        </p:nvSpPr>
        <p:spPr>
          <a:xfrm>
            <a:off x="7406640" y="246888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faster resume
(1,151 → 9.5 ms)</a:t>
            </a:r>
          </a:p>
        </p:txBody>
      </p:sp>
      <p:sp>
        <p:nvSpPr>
          <p:cNvPr id="11" name="Rectangle 10"/>
          <p:cNvSpPr/>
          <p:nvPr/>
        </p:nvSpPr>
        <p:spPr>
          <a:xfrm>
            <a:off x="9601200" y="178308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601200" y="1783080"/>
            <a:ext cx="2057400" cy="91440"/>
          </a:xfrm>
          <a:prstGeom prst="rect">
            <a:avLst/>
          </a:prstGeom>
          <a:solidFill>
            <a:srgbClr val="0B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2039112"/>
            <a:ext cx="2057400" cy="777240"/>
          </a:xfrm>
          <a:prstGeom prst="rect">
            <a:avLst/>
          </a:prstGeom>
          <a:noFill/>
        </p:spPr>
        <p:txBody>
          <a:bodyPr wrap="square" anchor="ctr">
            <a:spAutoFit/>
          </a:bodyPr>
          <a:lstStyle/>
          <a:p>
            <a:pPr algn="ctr">
              <a:lnSpc>
                <a:spcPct val="100000"/>
              </a:lnSpc>
              <a:spcAft>
                <a:spcPts val="600"/>
              </a:spcAft>
            </a:pPr>
            <a:r>
              <a:rPr sz="3400" b="1" i="0">
                <a:solidFill>
                  <a:srgbClr val="0B6E7A"/>
                </a:solidFill>
                <a:latin typeface="Segoe UI"/>
              </a:rPr>
              <a:t>50/50</a:t>
            </a:r>
          </a:p>
        </p:txBody>
      </p:sp>
      <p:sp>
        <p:nvSpPr>
          <p:cNvPr id="14" name="TextBox 13"/>
          <p:cNvSpPr txBox="1"/>
          <p:nvPr/>
        </p:nvSpPr>
        <p:spPr>
          <a:xfrm>
            <a:off x="9601200" y="246888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agents under SLA
(vs 0/50 today)</a:t>
            </a:r>
          </a:p>
        </p:txBody>
      </p:sp>
      <p:sp>
        <p:nvSpPr>
          <p:cNvPr id="15" name="Rectangle 14"/>
          <p:cNvSpPr/>
          <p:nvPr/>
        </p:nvSpPr>
        <p:spPr>
          <a:xfrm>
            <a:off x="7406640" y="352044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06640" y="3520440"/>
            <a:ext cx="2057400" cy="91440"/>
          </a:xfrm>
          <a:prstGeom prst="rect">
            <a:avLst/>
          </a:prstGeom>
          <a:solidFill>
            <a:srgbClr val="F49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3776472"/>
            <a:ext cx="2057400" cy="777240"/>
          </a:xfrm>
          <a:prstGeom prst="rect">
            <a:avLst/>
          </a:prstGeom>
          <a:noFill/>
        </p:spPr>
        <p:txBody>
          <a:bodyPr wrap="square" anchor="ctr">
            <a:spAutoFit/>
          </a:bodyPr>
          <a:lstStyle/>
          <a:p>
            <a:pPr algn="ctr">
              <a:lnSpc>
                <a:spcPct val="100000"/>
              </a:lnSpc>
              <a:spcAft>
                <a:spcPts val="600"/>
              </a:spcAft>
            </a:pPr>
            <a:r>
              <a:rPr sz="3400" b="1" i="0">
                <a:solidFill>
                  <a:srgbClr val="F49D37"/>
                </a:solidFill>
                <a:latin typeface="Segoe UI"/>
              </a:rPr>
              <a:t>~85%</a:t>
            </a:r>
          </a:p>
        </p:txBody>
      </p:sp>
      <p:sp>
        <p:nvSpPr>
          <p:cNvPr id="18" name="TextBox 17"/>
          <p:cNvSpPr txBox="1"/>
          <p:nvPr/>
        </p:nvSpPr>
        <p:spPr>
          <a:xfrm>
            <a:off x="7406640" y="420624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lower cost
per agent-hour</a:t>
            </a:r>
          </a:p>
        </p:txBody>
      </p:sp>
      <p:sp>
        <p:nvSpPr>
          <p:cNvPr id="19" name="Rectangle 18"/>
          <p:cNvSpPr/>
          <p:nvPr/>
        </p:nvSpPr>
        <p:spPr>
          <a:xfrm>
            <a:off x="9601200" y="3520440"/>
            <a:ext cx="2057400" cy="155448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601200" y="3520440"/>
            <a:ext cx="205740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3776472"/>
            <a:ext cx="2057400" cy="777240"/>
          </a:xfrm>
          <a:prstGeom prst="rect">
            <a:avLst/>
          </a:prstGeom>
          <a:noFill/>
        </p:spPr>
        <p:txBody>
          <a:bodyPr wrap="square" anchor="ctr">
            <a:spAutoFit/>
          </a:bodyPr>
          <a:lstStyle/>
          <a:p>
            <a:pPr algn="ctr">
              <a:lnSpc>
                <a:spcPct val="100000"/>
              </a:lnSpc>
              <a:spcAft>
                <a:spcPts val="600"/>
              </a:spcAft>
            </a:pPr>
            <a:r>
              <a:rPr sz="3400" b="1" i="0">
                <a:solidFill>
                  <a:srgbClr val="1B9AAA"/>
                </a:solidFill>
                <a:latin typeface="Segoe UI"/>
              </a:rPr>
              <a:t>8×</a:t>
            </a:r>
          </a:p>
        </p:txBody>
      </p:sp>
      <p:sp>
        <p:nvSpPr>
          <p:cNvPr id="22" name="TextBox 21"/>
          <p:cNvSpPr txBox="1"/>
          <p:nvPr/>
        </p:nvSpPr>
        <p:spPr>
          <a:xfrm>
            <a:off x="9601200" y="4206240"/>
            <a:ext cx="2057400" cy="777240"/>
          </a:xfrm>
          <a:prstGeom prst="rect">
            <a:avLst/>
          </a:prstGeom>
          <a:noFill/>
        </p:spPr>
        <p:txBody>
          <a:bodyPr wrap="square" anchor="t">
            <a:spAutoFit/>
          </a:bodyPr>
          <a:lstStyle/>
          <a:p>
            <a:pPr algn="ctr">
              <a:lnSpc>
                <a:spcPct val="100000"/>
              </a:lnSpc>
              <a:spcAft>
                <a:spcPts val="600"/>
              </a:spcAft>
            </a:pPr>
            <a:r>
              <a:rPr sz="1250" b="0" i="0">
                <a:solidFill>
                  <a:srgbClr val="555F6B"/>
                </a:solidFill>
                <a:latin typeface="Segoe UI"/>
              </a:rPr>
              <a:t>agent density
(50 vs 6 per GPU)</a:t>
            </a:r>
          </a:p>
        </p:txBody>
      </p:sp>
      <p:sp>
        <p:nvSpPr>
          <p:cNvPr id="23" name="TextBox 22"/>
          <p:cNvSpPr txBox="1"/>
          <p:nvPr/>
        </p:nvSpPr>
        <p:spPr>
          <a:xfrm>
            <a:off x="7406640" y="5257800"/>
            <a:ext cx="4251960" cy="640080"/>
          </a:xfrm>
          <a:prstGeom prst="rect">
            <a:avLst/>
          </a:prstGeom>
          <a:noFill/>
        </p:spPr>
        <p:txBody>
          <a:bodyPr wrap="square" anchor="t">
            <a:spAutoFit/>
          </a:bodyPr>
          <a:lstStyle/>
          <a:p>
            <a:pPr algn="l">
              <a:lnSpc>
                <a:spcPct val="100000"/>
              </a:lnSpc>
              <a:spcAft>
                <a:spcPts val="600"/>
              </a:spcAft>
            </a:pPr>
            <a:r>
              <a:rPr sz="1250" b="0" i="1">
                <a:solidFill>
                  <a:srgbClr val="555F6B"/>
                </a:solidFill>
                <a:latin typeface="Segoe UI"/>
              </a:rPr>
              <a:t>Spread across seeds ≈ 2% — not a cherry-picked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DIFFERENTIATOR ★</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Semantic eviction wins under pressure</a:t>
            </a:r>
          </a:p>
        </p:txBody>
      </p:sp>
      <p:pic>
        <p:nvPicPr>
          <p:cNvPr id="6" name="Picture 5" descr="chart_scaling.png"/>
          <p:cNvPicPr>
            <a:picLocks noChangeAspect="1"/>
          </p:cNvPicPr>
          <p:nvPr/>
        </p:nvPicPr>
        <p:blipFill>
          <a:blip r:embed="rId2"/>
          <a:stretch>
            <a:fillRect/>
          </a:stretch>
        </p:blipFill>
        <p:spPr>
          <a:xfrm>
            <a:off x="457200" y="1737360"/>
            <a:ext cx="6949440" cy="5410302"/>
          </a:xfrm>
          <a:prstGeom prst="rect">
            <a:avLst/>
          </a:prstGeom>
        </p:spPr>
      </p:pic>
      <p:graphicFrame>
        <p:nvGraphicFramePr>
          <p:cNvPr id="7" name="Table 6"/>
          <p:cNvGraphicFramePr>
            <a:graphicFrameLocks noGrp="1"/>
          </p:cNvGraphicFramePr>
          <p:nvPr/>
        </p:nvGraphicFramePr>
        <p:xfrm>
          <a:off x="7589520" y="2377440"/>
          <a:ext cx="4023360" cy="1463040"/>
        </p:xfrm>
        <a:graphic>
          <a:graphicData uri="http://schemas.openxmlformats.org/drawingml/2006/table">
            <a:tbl>
              <a:tblPr firstRow="1" bandRow="1">
                <a:tableStyleId>{5C22544A-7EE6-4342-B048-85BDC9FD1C3A}</a:tableStyleId>
              </a:tblPr>
              <a:tblGrid>
                <a:gridCol w="2011680"/>
                <a:gridCol w="2011680"/>
              </a:tblGrid>
              <a:tr h="487680">
                <a:tc>
                  <a:txBody>
                    <a:bodyPr wrap="square"/>
                    <a:lstStyle/>
                    <a:p>
                      <a:pPr algn="l"/>
                      <a:r>
                        <a:rPr sz="1300" b="1">
                          <a:solidFill>
                            <a:srgbClr val="FFFFFF"/>
                          </a:solidFill>
                          <a:latin typeface="Segoe UI"/>
                        </a:rPr>
                        <a:t>Policy @ 500 agents</a:t>
                      </a:r>
                    </a:p>
                  </a:txBody>
                  <a:tcPr>
                    <a:solidFill>
                      <a:srgbClr val="0B1F3A"/>
                    </a:solidFill>
                  </a:tcPr>
                </a:tc>
                <a:tc>
                  <a:txBody>
                    <a:bodyPr wrap="square"/>
                    <a:lstStyle/>
                    <a:p>
                      <a:pPr algn="ctr"/>
                      <a:r>
                        <a:rPr sz="1300" b="1">
                          <a:solidFill>
                            <a:srgbClr val="FFFFFF"/>
                          </a:solidFill>
                          <a:latin typeface="Segoe UI"/>
                        </a:rPr>
                        <a:t>SLA</a:t>
                      </a:r>
                    </a:p>
                  </a:txBody>
                  <a:tcPr>
                    <a:solidFill>
                      <a:srgbClr val="0B1F3A"/>
                    </a:solidFill>
                  </a:tcPr>
                </a:tc>
              </a:tr>
              <a:tr h="487680">
                <a:tc>
                  <a:txBody>
                    <a:bodyPr wrap="square"/>
                    <a:lstStyle/>
                    <a:p>
                      <a:pPr algn="l"/>
                      <a:r>
                        <a:rPr sz="1400">
                          <a:solidFill>
                            <a:srgbClr val="1A1A1A"/>
                          </a:solidFill>
                          <a:latin typeface="Segoe UI"/>
                        </a:rPr>
                        <a:t>LRU (recency only)</a:t>
                      </a:r>
                    </a:p>
                  </a:txBody>
                  <a:tcPr>
                    <a:solidFill>
                      <a:srgbClr val="FFFFFF"/>
                    </a:solidFill>
                  </a:tcPr>
                </a:tc>
                <a:tc>
                  <a:txBody>
                    <a:bodyPr wrap="square"/>
                    <a:lstStyle/>
                    <a:p>
                      <a:pPr algn="ctr"/>
                      <a:r>
                        <a:rPr sz="1400" b="1">
                          <a:solidFill>
                            <a:srgbClr val="0B6E7A"/>
                          </a:solidFill>
                          <a:latin typeface="Segoe UI"/>
                        </a:rPr>
                        <a:t>65 / 500</a:t>
                      </a:r>
                    </a:p>
                  </a:txBody>
                  <a:tcPr>
                    <a:solidFill>
                      <a:srgbClr val="FFFFFF"/>
                    </a:solidFill>
                  </a:tcPr>
                </a:tc>
              </a:tr>
              <a:tr h="487680">
                <a:tc>
                  <a:txBody>
                    <a:bodyPr wrap="square"/>
                    <a:lstStyle/>
                    <a:p>
                      <a:pPr algn="l"/>
                      <a:r>
                        <a:rPr sz="1400">
                          <a:solidFill>
                            <a:srgbClr val="1A1A1A"/>
                          </a:solidFill>
                          <a:latin typeface="Segoe UI"/>
                        </a:rPr>
                        <a:t>Nemorix (semantic)</a:t>
                      </a:r>
                    </a:p>
                  </a:txBody>
                  <a:tcPr>
                    <a:solidFill>
                      <a:srgbClr val="F4F7F9"/>
                    </a:solidFill>
                  </a:tcPr>
                </a:tc>
                <a:tc>
                  <a:txBody>
                    <a:bodyPr wrap="square"/>
                    <a:lstStyle/>
                    <a:p>
                      <a:pPr algn="ctr"/>
                      <a:r>
                        <a:rPr sz="1400" b="1">
                          <a:solidFill>
                            <a:srgbClr val="0B6E7A"/>
                          </a:solidFill>
                          <a:latin typeface="Segoe UI"/>
                        </a:rPr>
                        <a:t>273 / 500</a:t>
                      </a:r>
                    </a:p>
                  </a:txBody>
                  <a:tcPr>
                    <a:solidFill>
                      <a:srgbClr val="F4F7F9"/>
                    </a:solidFill>
                  </a:tcPr>
                </a:tc>
              </a:tr>
            </a:tbl>
          </a:graphicData>
        </a:graphic>
      </p:graphicFrame>
      <p:sp>
        <p:nvSpPr>
          <p:cNvPr id="8" name="TextBox 7"/>
          <p:cNvSpPr txBox="1"/>
          <p:nvPr/>
        </p:nvSpPr>
        <p:spPr>
          <a:xfrm>
            <a:off x="7589520" y="4114800"/>
            <a:ext cx="4023360" cy="2011680"/>
          </a:xfrm>
          <a:prstGeom prst="rect">
            <a:avLst/>
          </a:prstGeom>
          <a:noFill/>
        </p:spPr>
        <p:txBody>
          <a:bodyPr wrap="square" anchor="t">
            <a:spAutoFit/>
          </a:bodyPr>
          <a:lstStyle/>
          <a:p>
            <a:pPr algn="l">
              <a:lnSpc>
                <a:spcPct val="110000"/>
              </a:lnSpc>
              <a:spcAft>
                <a:spcPts val="600"/>
              </a:spcAft>
            </a:pPr>
            <a:r>
              <a:rPr sz="2200" b="1" i="0">
                <a:solidFill>
                  <a:srgbClr val="0B6E7A"/>
                </a:solidFill>
                <a:latin typeface="Segoe UI"/>
              </a:rPr>
              <a:t>4.2× more agents</a:t>
            </a:r>
          </a:p>
          <a:p>
            <a:pPr algn="l">
              <a:lnSpc>
                <a:spcPct val="110000"/>
              </a:lnSpc>
              <a:spcAft>
                <a:spcPts val="600"/>
              </a:spcAft>
            </a:pPr>
            <a:r>
              <a:rPr sz="1600" b="0" i="0">
                <a:solidFill>
                  <a:srgbClr val="1A1A1A"/>
                </a:solidFill>
                <a:latin typeface="Segoe UI"/>
              </a:rPr>
              <a:t>kept under SLA at scale.</a:t>
            </a:r>
          </a:p>
          <a:p>
            <a:pPr algn="l">
              <a:lnSpc>
                <a:spcPct val="110000"/>
              </a:lnSpc>
              <a:spcAft>
                <a:spcPts val="600"/>
              </a:spcAft>
            </a:pPr>
            <a:r>
              <a:rPr sz="800" b="0" i="0">
                <a:solidFill>
                  <a:srgbClr val="1A1A1A"/>
                </a:solidFill>
                <a:latin typeface="Segoe UI"/>
              </a:rPr>
              <a:t/>
            </a:r>
          </a:p>
          <a:p>
            <a:pPr algn="l">
              <a:lnSpc>
                <a:spcPct val="110000"/>
              </a:lnSpc>
              <a:spcAft>
                <a:spcPts val="600"/>
              </a:spcAft>
            </a:pPr>
            <a:r>
              <a:rPr sz="1300" b="0" i="0">
                <a:solidFill>
                  <a:srgbClr val="555F6B"/>
                </a:solidFill>
                <a:latin typeface="Segoe UI"/>
              </a:rPr>
              <a:t>Protects high-priority, high-attention, expensive-to-rebuild agents — the defensible algorithmic edge.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BEYOND STATE OF THE ART</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First to combine CXL + lifecycle + semantic</a:t>
            </a:r>
          </a:p>
        </p:txBody>
      </p:sp>
      <p:graphicFrame>
        <p:nvGraphicFramePr>
          <p:cNvPr id="6" name="Table 5"/>
          <p:cNvGraphicFramePr>
            <a:graphicFrameLocks noGrp="1"/>
          </p:cNvGraphicFramePr>
          <p:nvPr/>
        </p:nvGraphicFramePr>
        <p:xfrm>
          <a:off x="640080" y="1920240"/>
          <a:ext cx="10881360" cy="3108960"/>
        </p:xfrm>
        <a:graphic>
          <a:graphicData uri="http://schemas.openxmlformats.org/drawingml/2006/table">
            <a:tbl>
              <a:tblPr firstRow="1" bandRow="1">
                <a:tableStyleId>{5C22544A-7EE6-4342-B048-85BDC9FD1C3A}</a:tableStyleId>
              </a:tblPr>
              <a:tblGrid>
                <a:gridCol w="2176272"/>
                <a:gridCol w="2176272"/>
                <a:gridCol w="2176272"/>
                <a:gridCol w="2176272"/>
                <a:gridCol w="2176272"/>
              </a:tblGrid>
              <a:tr h="518160">
                <a:tc>
                  <a:txBody>
                    <a:bodyPr wrap="square"/>
                    <a:lstStyle/>
                    <a:p>
                      <a:pPr algn="l"/>
                      <a:r>
                        <a:rPr sz="1200" b="1">
                          <a:solidFill>
                            <a:srgbClr val="FFFFFF"/>
                          </a:solidFill>
                          <a:latin typeface="Segoe UI"/>
                        </a:rPr>
                        <a:t>System</a:t>
                      </a:r>
                    </a:p>
                  </a:txBody>
                  <a:tcPr>
                    <a:solidFill>
                      <a:srgbClr val="0B1F3A"/>
                    </a:solidFill>
                  </a:tcPr>
                </a:tc>
                <a:tc>
                  <a:txBody>
                    <a:bodyPr wrap="square"/>
                    <a:lstStyle/>
                    <a:p>
                      <a:pPr algn="ctr"/>
                      <a:r>
                        <a:rPr sz="1200" b="1">
                          <a:solidFill>
                            <a:srgbClr val="FFFFFF"/>
                          </a:solidFill>
                          <a:latin typeface="Segoe UI"/>
                        </a:rPr>
                        <a:t>Multi-tier</a:t>
                      </a:r>
                    </a:p>
                  </a:txBody>
                  <a:tcPr>
                    <a:solidFill>
                      <a:srgbClr val="0B1F3A"/>
                    </a:solidFill>
                  </a:tcPr>
                </a:tc>
                <a:tc>
                  <a:txBody>
                    <a:bodyPr wrap="square"/>
                    <a:lstStyle/>
                    <a:p>
                      <a:pPr algn="ctr"/>
                      <a:r>
                        <a:rPr sz="1200" b="1">
                          <a:solidFill>
                            <a:srgbClr val="FFFFFF"/>
                          </a:solidFill>
                          <a:latin typeface="Segoe UI"/>
                        </a:rPr>
                        <a:t>CXL</a:t>
                      </a:r>
                    </a:p>
                  </a:txBody>
                  <a:tcPr>
                    <a:solidFill>
                      <a:srgbClr val="0B1F3A"/>
                    </a:solidFill>
                  </a:tcPr>
                </a:tc>
                <a:tc>
                  <a:txBody>
                    <a:bodyPr wrap="square"/>
                    <a:lstStyle/>
                    <a:p>
                      <a:pPr algn="ctr"/>
                      <a:r>
                        <a:rPr sz="1200" b="1">
                          <a:solidFill>
                            <a:srgbClr val="FFFFFF"/>
                          </a:solidFill>
                          <a:latin typeface="Segoe UI"/>
                        </a:rPr>
                        <a:t>Semantic eviction</a:t>
                      </a:r>
                    </a:p>
                  </a:txBody>
                  <a:tcPr>
                    <a:solidFill>
                      <a:srgbClr val="0B1F3A"/>
                    </a:solidFill>
                  </a:tcPr>
                </a:tc>
                <a:tc>
                  <a:txBody>
                    <a:bodyPr wrap="square"/>
                    <a:lstStyle/>
                    <a:p>
                      <a:pPr algn="ctr"/>
                      <a:r>
                        <a:rPr sz="1200" b="1">
                          <a:solidFill>
                            <a:srgbClr val="FFFFFF"/>
                          </a:solidFill>
                          <a:latin typeface="Segoe UI"/>
                        </a:rPr>
                        <a:t>Agent-centric</a:t>
                      </a:r>
                    </a:p>
                  </a:txBody>
                  <a:tcPr>
                    <a:solidFill>
                      <a:srgbClr val="0B1F3A"/>
                    </a:solidFill>
                  </a:tcPr>
                </a:tc>
              </a:tr>
              <a:tr h="518160">
                <a:tc>
                  <a:txBody>
                    <a:bodyPr wrap="square"/>
                    <a:lstStyle/>
                    <a:p>
                      <a:pPr algn="l"/>
                      <a:r>
                        <a:rPr sz="1300">
                          <a:solidFill>
                            <a:srgbClr val="1A1A1A"/>
                          </a:solidFill>
                          <a:latin typeface="Segoe UI"/>
                        </a:rPr>
                        <a:t>vLLM</a:t>
                      </a:r>
                    </a:p>
                  </a:txBody>
                  <a:tcPr>
                    <a:solidFill>
                      <a:srgbClr val="FFFFFF"/>
                    </a:solidFill>
                  </a:tcPr>
                </a:tc>
                <a:tc>
                  <a:txBody>
                    <a:bodyPr wrap="square"/>
                    <a:lstStyle/>
                    <a:p>
                      <a:pPr algn="ctr"/>
                      <a:r>
                        <a:rPr sz="1300">
                          <a:solidFill>
                            <a:srgbClr val="1A1A1A"/>
                          </a:solidFill>
                          <a:latin typeface="Segoe UI"/>
                        </a:rPr>
                        <a:t>partial</a:t>
                      </a:r>
                    </a:p>
                  </a:txBody>
                  <a:tcPr>
                    <a:solidFill>
                      <a:srgbClr val="FFFFFF"/>
                    </a:solidFill>
                  </a:tcPr>
                </a:tc>
                <a:tc>
                  <a:txBody>
                    <a:bodyPr wrap="square"/>
                    <a:lstStyle/>
                    <a:p>
                      <a:pPr algn="ctr"/>
                      <a:r>
                        <a:rPr sz="1300">
                          <a:solidFill>
                            <a:srgbClr val="1A1A1A"/>
                          </a:solidFill>
                          <a:latin typeface="Segoe UI"/>
                        </a:rPr>
                        <a:t>No</a:t>
                      </a:r>
                    </a:p>
                  </a:txBody>
                  <a:tcPr>
                    <a:solidFill>
                      <a:srgbClr val="FFFFFF"/>
                    </a:solidFill>
                  </a:tcPr>
                </a:tc>
                <a:tc>
                  <a:txBody>
                    <a:bodyPr wrap="square"/>
                    <a:lstStyle/>
                    <a:p>
                      <a:pPr algn="ctr"/>
                      <a:r>
                        <a:rPr sz="1300">
                          <a:solidFill>
                            <a:srgbClr val="1A1A1A"/>
                          </a:solidFill>
                          <a:latin typeface="Segoe UI"/>
                        </a:rPr>
                        <a:t>No (LRU)</a:t>
                      </a:r>
                    </a:p>
                  </a:txBody>
                  <a:tcPr>
                    <a:solidFill>
                      <a:srgbClr val="FFFFFF"/>
                    </a:solidFill>
                  </a:tcPr>
                </a:tc>
                <a:tc>
                  <a:txBody>
                    <a:bodyPr wrap="square"/>
                    <a:lstStyle/>
                    <a:p>
                      <a:pPr algn="ctr"/>
                      <a:r>
                        <a:rPr sz="1300" b="1">
                          <a:solidFill>
                            <a:srgbClr val="0B6E7A"/>
                          </a:solidFill>
                          <a:latin typeface="Segoe UI"/>
                        </a:rPr>
                        <a:t>No (request)</a:t>
                      </a:r>
                    </a:p>
                  </a:txBody>
                  <a:tcPr>
                    <a:solidFill>
                      <a:srgbClr val="FFFFFF"/>
                    </a:solidFill>
                  </a:tcPr>
                </a:tc>
              </a:tr>
              <a:tr h="518160">
                <a:tc>
                  <a:txBody>
                    <a:bodyPr wrap="square"/>
                    <a:lstStyle/>
                    <a:p>
                      <a:pPr algn="l"/>
                      <a:r>
                        <a:rPr sz="1300">
                          <a:solidFill>
                            <a:srgbClr val="1A1A1A"/>
                          </a:solidFill>
                          <a:latin typeface="Segoe UI"/>
                        </a:rPr>
                        <a:t>NVIDIA Dynamo</a:t>
                      </a:r>
                    </a:p>
                  </a:txBody>
                  <a:tcPr>
                    <a:solidFill>
                      <a:srgbClr val="F4F7F9"/>
                    </a:solidFill>
                  </a:tcPr>
                </a:tc>
                <a:tc>
                  <a:txBody>
                    <a:bodyPr wrap="square"/>
                    <a:lstStyle/>
                    <a:p>
                      <a:pPr algn="ctr"/>
                      <a:r>
                        <a:rPr sz="1300">
                          <a:solidFill>
                            <a:srgbClr val="1A1A1A"/>
                          </a:solidFill>
                          <a:latin typeface="Segoe UI"/>
                        </a:rPr>
                        <a:t>Yes</a:t>
                      </a:r>
                    </a:p>
                  </a:txBody>
                  <a:tcPr>
                    <a:solidFill>
                      <a:srgbClr val="F4F7F9"/>
                    </a:solidFill>
                  </a:tcPr>
                </a:tc>
                <a:tc>
                  <a:txBody>
                    <a:bodyPr wrap="square"/>
                    <a:lstStyle/>
                    <a:p>
                      <a:pPr algn="ctr"/>
                      <a:r>
                        <a:rPr sz="1300">
                          <a:solidFill>
                            <a:srgbClr val="1A1A1A"/>
                          </a:solidFill>
                          <a:latin typeface="Segoe UI"/>
                        </a:rPr>
                        <a:t>No</a:t>
                      </a:r>
                    </a:p>
                  </a:txBody>
                  <a:tcPr>
                    <a:solidFill>
                      <a:srgbClr val="F4F7F9"/>
                    </a:solidFill>
                  </a:tcPr>
                </a:tc>
                <a:tc>
                  <a:txBody>
                    <a:bodyPr wrap="square"/>
                    <a:lstStyle/>
                    <a:p>
                      <a:pPr algn="ctr"/>
                      <a:r>
                        <a:rPr sz="1300">
                          <a:solidFill>
                            <a:srgbClr val="1A1A1A"/>
                          </a:solidFill>
                          <a:latin typeface="Segoe UI"/>
                        </a:rPr>
                        <a:t>No</a:t>
                      </a:r>
                    </a:p>
                  </a:txBody>
                  <a:tcPr>
                    <a:solidFill>
                      <a:srgbClr val="F4F7F9"/>
                    </a:solidFill>
                  </a:tcPr>
                </a:tc>
                <a:tc>
                  <a:txBody>
                    <a:bodyPr wrap="square"/>
                    <a:lstStyle/>
                    <a:p>
                      <a:pPr algn="ctr"/>
                      <a:r>
                        <a:rPr sz="1300" b="1">
                          <a:solidFill>
                            <a:srgbClr val="0B6E7A"/>
                          </a:solidFill>
                          <a:latin typeface="Segoe UI"/>
                        </a:rPr>
                        <a:t>semi</a:t>
                      </a:r>
                    </a:p>
                  </a:txBody>
                  <a:tcPr>
                    <a:solidFill>
                      <a:srgbClr val="F4F7F9"/>
                    </a:solidFill>
                  </a:tcPr>
                </a:tc>
              </a:tr>
              <a:tr h="518160">
                <a:tc>
                  <a:txBody>
                    <a:bodyPr wrap="square"/>
                    <a:lstStyle/>
                    <a:p>
                      <a:pPr algn="l"/>
                      <a:r>
                        <a:rPr sz="1300">
                          <a:solidFill>
                            <a:srgbClr val="1A1A1A"/>
                          </a:solidFill>
                          <a:latin typeface="Segoe UI"/>
                        </a:rPr>
                        <a:t>FlexGen / Mooncake</a:t>
                      </a:r>
                    </a:p>
                  </a:txBody>
                  <a:tcPr>
                    <a:solidFill>
                      <a:srgbClr val="FFFFFF"/>
                    </a:solidFill>
                  </a:tcPr>
                </a:tc>
                <a:tc>
                  <a:txBody>
                    <a:bodyPr wrap="square"/>
                    <a:lstStyle/>
                    <a:p>
                      <a:pPr algn="ctr"/>
                      <a:r>
                        <a:rPr sz="1300">
                          <a:solidFill>
                            <a:srgbClr val="1A1A1A"/>
                          </a:solidFill>
                          <a:latin typeface="Segoe UI"/>
                        </a:rPr>
                        <a:t>Yes</a:t>
                      </a:r>
                    </a:p>
                  </a:txBody>
                  <a:tcPr>
                    <a:solidFill>
                      <a:srgbClr val="FFFFFF"/>
                    </a:solidFill>
                  </a:tcPr>
                </a:tc>
                <a:tc>
                  <a:txBody>
                    <a:bodyPr wrap="square"/>
                    <a:lstStyle/>
                    <a:p>
                      <a:pPr algn="ctr"/>
                      <a:r>
                        <a:rPr sz="1300">
                          <a:solidFill>
                            <a:srgbClr val="1A1A1A"/>
                          </a:solidFill>
                          <a:latin typeface="Segoe UI"/>
                        </a:rPr>
                        <a:t>No</a:t>
                      </a:r>
                    </a:p>
                  </a:txBody>
                  <a:tcPr>
                    <a:solidFill>
                      <a:srgbClr val="FFFFFF"/>
                    </a:solidFill>
                  </a:tcPr>
                </a:tc>
                <a:tc>
                  <a:txBody>
                    <a:bodyPr wrap="square"/>
                    <a:lstStyle/>
                    <a:p>
                      <a:pPr algn="ctr"/>
                      <a:r>
                        <a:rPr sz="1300">
                          <a:solidFill>
                            <a:srgbClr val="1A1A1A"/>
                          </a:solidFill>
                          <a:latin typeface="Segoe UI"/>
                        </a:rPr>
                        <a:t>No</a:t>
                      </a:r>
                    </a:p>
                  </a:txBody>
                  <a:tcPr>
                    <a:solidFill>
                      <a:srgbClr val="FFFFFF"/>
                    </a:solidFill>
                  </a:tcPr>
                </a:tc>
                <a:tc>
                  <a:txBody>
                    <a:bodyPr wrap="square"/>
                    <a:lstStyle/>
                    <a:p>
                      <a:pPr algn="ctr"/>
                      <a:r>
                        <a:rPr sz="1300" b="1">
                          <a:solidFill>
                            <a:srgbClr val="0B6E7A"/>
                          </a:solidFill>
                          <a:latin typeface="Segoe UI"/>
                        </a:rPr>
                        <a:t>No (throughput)</a:t>
                      </a:r>
                    </a:p>
                  </a:txBody>
                  <a:tcPr>
                    <a:solidFill>
                      <a:srgbClr val="FFFFFF"/>
                    </a:solidFill>
                  </a:tcPr>
                </a:tc>
              </a:tr>
              <a:tr h="518160">
                <a:tc>
                  <a:txBody>
                    <a:bodyPr wrap="square"/>
                    <a:lstStyle/>
                    <a:p>
                      <a:pPr algn="l"/>
                      <a:r>
                        <a:rPr sz="1300">
                          <a:solidFill>
                            <a:srgbClr val="1A1A1A"/>
                          </a:solidFill>
                          <a:latin typeface="Segoe UI"/>
                        </a:rPr>
                        <a:t>Liaw &amp; Chen '25</a:t>
                      </a:r>
                    </a:p>
                  </a:txBody>
                  <a:tcPr>
                    <a:solidFill>
                      <a:srgbClr val="F4F7F9"/>
                    </a:solidFill>
                  </a:tcPr>
                </a:tc>
                <a:tc>
                  <a:txBody>
                    <a:bodyPr wrap="square"/>
                    <a:lstStyle/>
                    <a:p>
                      <a:pPr algn="ctr"/>
                      <a:r>
                        <a:rPr sz="1300">
                          <a:solidFill>
                            <a:srgbClr val="1A1A1A"/>
                          </a:solidFill>
                          <a:latin typeface="Segoe UI"/>
                        </a:rPr>
                        <a:t>—</a:t>
                      </a:r>
                    </a:p>
                  </a:txBody>
                  <a:tcPr>
                    <a:solidFill>
                      <a:srgbClr val="F4F7F9"/>
                    </a:solidFill>
                  </a:tcPr>
                </a:tc>
                <a:tc>
                  <a:txBody>
                    <a:bodyPr wrap="square"/>
                    <a:lstStyle/>
                    <a:p>
                      <a:pPr algn="ctr"/>
                      <a:r>
                        <a:rPr sz="1300">
                          <a:solidFill>
                            <a:srgbClr val="1A1A1A"/>
                          </a:solidFill>
                          <a:latin typeface="Segoe UI"/>
                        </a:rPr>
                        <a:t>Yes (training)</a:t>
                      </a:r>
                    </a:p>
                  </a:txBody>
                  <a:tcPr>
                    <a:solidFill>
                      <a:srgbClr val="F4F7F9"/>
                    </a:solidFill>
                  </a:tcPr>
                </a:tc>
                <a:tc>
                  <a:txBody>
                    <a:bodyPr wrap="square"/>
                    <a:lstStyle/>
                    <a:p>
                      <a:pPr algn="ctr"/>
                      <a:r>
                        <a:rPr sz="1300">
                          <a:solidFill>
                            <a:srgbClr val="1A1A1A"/>
                          </a:solidFill>
                          <a:latin typeface="Segoe UI"/>
                        </a:rPr>
                        <a:t>—</a:t>
                      </a:r>
                    </a:p>
                  </a:txBody>
                  <a:tcPr>
                    <a:solidFill>
                      <a:srgbClr val="F4F7F9"/>
                    </a:solidFill>
                  </a:tcPr>
                </a:tc>
                <a:tc>
                  <a:txBody>
                    <a:bodyPr wrap="square"/>
                    <a:lstStyle/>
                    <a:p>
                      <a:pPr algn="ctr"/>
                      <a:r>
                        <a:rPr sz="1300" b="1">
                          <a:solidFill>
                            <a:srgbClr val="0B6E7A"/>
                          </a:solidFill>
                          <a:latin typeface="Segoe UI"/>
                        </a:rPr>
                        <a:t>No</a:t>
                      </a:r>
                    </a:p>
                  </a:txBody>
                  <a:tcPr>
                    <a:solidFill>
                      <a:srgbClr val="F4F7F9"/>
                    </a:solidFill>
                  </a:tcPr>
                </a:tc>
              </a:tr>
              <a:tr h="518160">
                <a:tc>
                  <a:txBody>
                    <a:bodyPr wrap="square"/>
                    <a:lstStyle/>
                    <a:p>
                      <a:pPr algn="l"/>
                      <a:r>
                        <a:rPr sz="1300">
                          <a:solidFill>
                            <a:srgbClr val="1A1A1A"/>
                          </a:solidFill>
                          <a:latin typeface="Segoe UI"/>
                        </a:rPr>
                        <a:t>Nemorix</a:t>
                      </a:r>
                    </a:p>
                  </a:txBody>
                  <a:tcPr>
                    <a:solidFill>
                      <a:srgbClr val="FFFFFF"/>
                    </a:solidFill>
                  </a:tcPr>
                </a:tc>
                <a:tc>
                  <a:txBody>
                    <a:bodyPr wrap="square"/>
                    <a:lstStyle/>
                    <a:p>
                      <a:pPr algn="ctr"/>
                      <a:r>
                        <a:rPr sz="1300">
                          <a:solidFill>
                            <a:srgbClr val="1A1A1A"/>
                          </a:solidFill>
                          <a:latin typeface="Segoe UI"/>
                        </a:rPr>
                        <a:t>Yes (4-tier)</a:t>
                      </a:r>
                    </a:p>
                  </a:txBody>
                  <a:tcPr>
                    <a:solidFill>
                      <a:srgbClr val="FFFFFF"/>
                    </a:solidFill>
                  </a:tcPr>
                </a:tc>
                <a:tc>
                  <a:txBody>
                    <a:bodyPr wrap="square"/>
                    <a:lstStyle/>
                    <a:p>
                      <a:pPr algn="ctr"/>
                      <a:r>
                        <a:rPr sz="1300">
                          <a:solidFill>
                            <a:srgbClr val="1A1A1A"/>
                          </a:solidFill>
                          <a:latin typeface="Segoe UI"/>
                        </a:rPr>
                        <a:t>Yes</a:t>
                      </a:r>
                    </a:p>
                  </a:txBody>
                  <a:tcPr>
                    <a:solidFill>
                      <a:srgbClr val="FFFFFF"/>
                    </a:solidFill>
                  </a:tcPr>
                </a:tc>
                <a:tc>
                  <a:txBody>
                    <a:bodyPr wrap="square"/>
                    <a:lstStyle/>
                    <a:p>
                      <a:pPr algn="ctr"/>
                      <a:r>
                        <a:rPr sz="1300">
                          <a:solidFill>
                            <a:srgbClr val="1A1A1A"/>
                          </a:solidFill>
                          <a:latin typeface="Segoe UI"/>
                        </a:rPr>
                        <a:t>Yes</a:t>
                      </a:r>
                    </a:p>
                  </a:txBody>
                  <a:tcPr>
                    <a:solidFill>
                      <a:srgbClr val="FFFFFF"/>
                    </a:solidFill>
                  </a:tcPr>
                </a:tc>
                <a:tc>
                  <a:txBody>
                    <a:bodyPr wrap="square"/>
                    <a:lstStyle/>
                    <a:p>
                      <a:pPr algn="ctr"/>
                      <a:r>
                        <a:rPr sz="1300" b="1">
                          <a:solidFill>
                            <a:srgbClr val="0B6E7A"/>
                          </a:solidFill>
                          <a:latin typeface="Segoe UI"/>
                        </a:rPr>
                        <a:t>Yes</a:t>
                      </a:r>
                    </a:p>
                  </a:txBody>
                  <a:tcPr>
                    <a:solidFill>
                      <a:srgbClr val="FFFFFF"/>
                    </a:solidFill>
                  </a:tcPr>
                </a:tc>
              </a:tr>
            </a:tbl>
          </a:graphicData>
        </a:graphic>
      </p:graphicFrame>
      <p:sp>
        <p:nvSpPr>
          <p:cNvPr id="7" name="TextBox 6"/>
          <p:cNvSpPr txBox="1"/>
          <p:nvPr/>
        </p:nvSpPr>
        <p:spPr>
          <a:xfrm>
            <a:off x="640080" y="5303520"/>
            <a:ext cx="10881360" cy="731520"/>
          </a:xfrm>
          <a:prstGeom prst="rect">
            <a:avLst/>
          </a:prstGeom>
          <a:noFill/>
        </p:spPr>
        <p:txBody>
          <a:bodyPr wrap="square" anchor="t">
            <a:spAutoFit/>
          </a:bodyPr>
          <a:lstStyle/>
          <a:p>
            <a:pPr algn="l">
              <a:lnSpc>
                <a:spcPct val="110000"/>
              </a:lnSpc>
              <a:spcAft>
                <a:spcPts val="600"/>
              </a:spcAft>
            </a:pPr>
            <a:r>
              <a:rPr sz="1500" b="1" i="0">
                <a:solidFill>
                  <a:srgbClr val="0B1F3A"/>
                </a:solidFill>
                <a:latin typeface="Segoe UI"/>
              </a:rPr>
              <a:t>Every ingredient exists somewhere. Nobody combines them. Nemorix is the only system at the intersection.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1B9AAA"/>
                </a:solidFill>
                <a:latin typeface="Segoe UI"/>
              </a:rPr>
              <a:t>WHY IMEC</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FFFFFF"/>
                </a:solidFill>
                <a:latin typeface="Segoe UI"/>
              </a:rPr>
              <a:t>Uniquely positioned: simulation → silicon</a:t>
            </a:r>
          </a:p>
        </p:txBody>
      </p:sp>
      <p:sp>
        <p:nvSpPr>
          <p:cNvPr id="6" name="TextBox 5"/>
          <p:cNvSpPr txBox="1"/>
          <p:nvPr/>
        </p:nvSpPr>
        <p:spPr>
          <a:xfrm>
            <a:off x="731520" y="2011680"/>
            <a:ext cx="10058400" cy="3657600"/>
          </a:xfrm>
          <a:prstGeom prst="rect">
            <a:avLst/>
          </a:prstGeom>
          <a:noFill/>
        </p:spPr>
        <p:txBody>
          <a:bodyPr wrap="square" anchor="t">
            <a:spAutoFit/>
          </a:bodyPr>
          <a:lstStyle/>
          <a:p>
            <a:pPr algn="l">
              <a:lnSpc>
                <a:spcPct val="120000"/>
              </a:lnSpc>
              <a:spcAft>
                <a:spcPts val="1600"/>
              </a:spcAft>
            </a:pPr>
            <a:r>
              <a:rPr sz="1600" b="1" i="0">
                <a:solidFill>
                  <a:srgbClr val="1B9AAA"/>
                </a:solidFill>
                <a:latin typeface="Segoe UI"/>
              </a:rPr>
              <a:t>▶  </a:t>
            </a:r>
            <a:r>
              <a:rPr sz="1800" b="0" i="0">
                <a:solidFill>
                  <a:srgbClr val="FFFFFF"/>
                </a:solidFill>
                <a:latin typeface="Segoe UI"/>
              </a:rPr>
              <a:t>World-class CXL &amp; memory-system expertise</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Hardware-software co-design capability</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Access to semiconductor partners (Samsung, SK Hynix)</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HPC infrastructure for real H100 + CXL validation</a:t>
            </a:r>
          </a:p>
          <a:p>
            <a:pPr algn="l">
              <a:lnSpc>
                <a:spcPct val="120000"/>
              </a:lnSpc>
              <a:spcAft>
                <a:spcPts val="1600"/>
              </a:spcAft>
            </a:pPr>
            <a:r>
              <a:rPr sz="1600" b="1" i="0">
                <a:solidFill>
                  <a:srgbClr val="1B9AAA"/>
                </a:solidFill>
                <a:latin typeface="Segoe UI"/>
              </a:rPr>
              <a:t>▶  </a:t>
            </a:r>
            <a:r>
              <a:rPr sz="1800" b="0" i="0">
                <a:solidFill>
                  <a:srgbClr val="FFFFFF"/>
                </a:solidFill>
                <a:latin typeface="Segoe UI"/>
              </a:rPr>
              <a:t>Deep-tech commercialization support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BUSINESS MODEL</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Open core — the playbook behind $62B Databricks</a:t>
            </a:r>
          </a:p>
        </p:txBody>
      </p:sp>
      <p:graphicFrame>
        <p:nvGraphicFramePr>
          <p:cNvPr id="6" name="Table 5"/>
          <p:cNvGraphicFramePr>
            <a:graphicFrameLocks noGrp="1"/>
          </p:cNvGraphicFramePr>
          <p:nvPr/>
        </p:nvGraphicFramePr>
        <p:xfrm>
          <a:off x="640080" y="1828800"/>
          <a:ext cx="6949440" cy="2377440"/>
        </p:xfrm>
        <a:graphic>
          <a:graphicData uri="http://schemas.openxmlformats.org/drawingml/2006/table">
            <a:tbl>
              <a:tblPr firstRow="1" bandRow="1">
                <a:tableStyleId>{5C22544A-7EE6-4342-B048-85BDC9FD1C3A}</a:tableStyleId>
              </a:tblPr>
              <a:tblGrid>
                <a:gridCol w="2316480"/>
                <a:gridCol w="2316480"/>
                <a:gridCol w="2316480"/>
              </a:tblGrid>
              <a:tr h="594360">
                <a:tc>
                  <a:txBody>
                    <a:bodyPr wrap="square"/>
                    <a:lstStyle/>
                    <a:p>
                      <a:pPr algn="l"/>
                      <a:r>
                        <a:rPr sz="1200" b="1">
                          <a:solidFill>
                            <a:srgbClr val="FFFFFF"/>
                          </a:solidFill>
                          <a:latin typeface="Segoe UI"/>
                        </a:rPr>
                        <a:t>Product</a:t>
                      </a:r>
                    </a:p>
                  </a:txBody>
                  <a:tcPr>
                    <a:solidFill>
                      <a:srgbClr val="0B1F3A"/>
                    </a:solidFill>
                  </a:tcPr>
                </a:tc>
                <a:tc>
                  <a:txBody>
                    <a:bodyPr wrap="square"/>
                    <a:lstStyle/>
                    <a:p>
                      <a:pPr algn="ctr"/>
                      <a:r>
                        <a:rPr sz="1200" b="1">
                          <a:solidFill>
                            <a:srgbClr val="FFFFFF"/>
                          </a:solidFill>
                          <a:latin typeface="Segoe UI"/>
                        </a:rPr>
                        <a:t>Who buys it</a:t>
                      </a:r>
                    </a:p>
                  </a:txBody>
                  <a:tcPr>
                    <a:solidFill>
                      <a:srgbClr val="0B1F3A"/>
                    </a:solidFill>
                  </a:tcPr>
                </a:tc>
                <a:tc>
                  <a:txBody>
                    <a:bodyPr wrap="square"/>
                    <a:lstStyle/>
                    <a:p>
                      <a:pPr algn="ctr"/>
                      <a:r>
                        <a:rPr sz="1200" b="1">
                          <a:solidFill>
                            <a:srgbClr val="FFFFFF"/>
                          </a:solidFill>
                          <a:latin typeface="Segoe UI"/>
                        </a:rPr>
                        <a:t>Price</a:t>
                      </a:r>
                    </a:p>
                  </a:txBody>
                  <a:tcPr>
                    <a:solidFill>
                      <a:srgbClr val="0B1F3A"/>
                    </a:solidFill>
                  </a:tcPr>
                </a:tc>
              </a:tr>
              <a:tr h="594360">
                <a:tc>
                  <a:txBody>
                    <a:bodyPr wrap="square"/>
                    <a:lstStyle/>
                    <a:p>
                      <a:pPr algn="l"/>
                      <a:r>
                        <a:rPr sz="1300">
                          <a:solidFill>
                            <a:srgbClr val="1A1A1A"/>
                          </a:solidFill>
                          <a:latin typeface="Segoe UI"/>
                        </a:rPr>
                        <a:t>Nemorix Core (OSS)</a:t>
                      </a:r>
                    </a:p>
                  </a:txBody>
                  <a:tcPr>
                    <a:solidFill>
                      <a:srgbClr val="FFFFFF"/>
                    </a:solidFill>
                  </a:tcPr>
                </a:tc>
                <a:tc>
                  <a:txBody>
                    <a:bodyPr wrap="square"/>
                    <a:lstStyle/>
                    <a:p>
                      <a:pPr algn="ctr"/>
                      <a:r>
                        <a:rPr sz="1300">
                          <a:solidFill>
                            <a:srgbClr val="1A1A1A"/>
                          </a:solidFill>
                          <a:latin typeface="Segoe UI"/>
                        </a:rPr>
                        <a:t>Everyone — adoption engine</a:t>
                      </a:r>
                    </a:p>
                  </a:txBody>
                  <a:tcPr>
                    <a:solidFill>
                      <a:srgbClr val="FFFFFF"/>
                    </a:solidFill>
                  </a:tcPr>
                </a:tc>
                <a:tc>
                  <a:txBody>
                    <a:bodyPr wrap="square"/>
                    <a:lstStyle/>
                    <a:p>
                      <a:pPr algn="ctr"/>
                      <a:r>
                        <a:rPr sz="1300" b="1">
                          <a:solidFill>
                            <a:srgbClr val="0B6E7A"/>
                          </a:solidFill>
                          <a:latin typeface="Segoe UI"/>
                        </a:rPr>
                        <a:t>Free (MIT license)</a:t>
                      </a:r>
                    </a:p>
                  </a:txBody>
                  <a:tcPr>
                    <a:solidFill>
                      <a:srgbClr val="FFFFFF"/>
                    </a:solidFill>
                  </a:tcPr>
                </a:tc>
              </a:tr>
              <a:tr h="594360">
                <a:tc>
                  <a:txBody>
                    <a:bodyPr wrap="square"/>
                    <a:lstStyle/>
                    <a:p>
                      <a:pPr algn="l"/>
                      <a:r>
                        <a:rPr sz="1300">
                          <a:solidFill>
                            <a:srgbClr val="1A1A1A"/>
                          </a:solidFill>
                          <a:latin typeface="Segoe UI"/>
                        </a:rPr>
                        <a:t>Nemorix Enterprise</a:t>
                      </a:r>
                    </a:p>
                  </a:txBody>
                  <a:tcPr>
                    <a:solidFill>
                      <a:srgbClr val="F4F7F9"/>
                    </a:solidFill>
                  </a:tcPr>
                </a:tc>
                <a:tc>
                  <a:txBody>
                    <a:bodyPr wrap="square"/>
                    <a:lstStyle/>
                    <a:p>
                      <a:pPr algn="ctr"/>
                      <a:r>
                        <a:rPr sz="1300">
                          <a:solidFill>
                            <a:srgbClr val="1A1A1A"/>
                          </a:solidFill>
                          <a:latin typeface="Segoe UI"/>
                        </a:rPr>
                        <a:t>Cloud providers, AI companies</a:t>
                      </a:r>
                    </a:p>
                  </a:txBody>
                  <a:tcPr>
                    <a:solidFill>
                      <a:srgbClr val="F4F7F9"/>
                    </a:solidFill>
                  </a:tcPr>
                </a:tc>
                <a:tc>
                  <a:txBody>
                    <a:bodyPr wrap="square"/>
                    <a:lstStyle/>
                    <a:p>
                      <a:pPr algn="ctr"/>
                      <a:r>
                        <a:rPr sz="1300" b="1">
                          <a:solidFill>
                            <a:srgbClr val="0B6E7A"/>
                          </a:solidFill>
                          <a:latin typeface="Segoe UI"/>
                        </a:rPr>
                        <a:t>$15–25K / GPU / year</a:t>
                      </a:r>
                    </a:p>
                  </a:txBody>
                  <a:tcPr>
                    <a:solidFill>
                      <a:srgbClr val="F4F7F9"/>
                    </a:solidFill>
                  </a:tcPr>
                </a:tc>
              </a:tr>
              <a:tr h="594360">
                <a:tc>
                  <a:txBody>
                    <a:bodyPr wrap="square"/>
                    <a:lstStyle/>
                    <a:p>
                      <a:pPr algn="l"/>
                      <a:r>
                        <a:rPr sz="1300">
                          <a:solidFill>
                            <a:srgbClr val="1A1A1A"/>
                          </a:solidFill>
                          <a:latin typeface="Segoe UI"/>
                        </a:rPr>
                        <a:t>Nemorix Cloud</a:t>
                      </a:r>
                    </a:p>
                  </a:txBody>
                  <a:tcPr>
                    <a:solidFill>
                      <a:srgbClr val="FFFFFF"/>
                    </a:solidFill>
                  </a:tcPr>
                </a:tc>
                <a:tc>
                  <a:txBody>
                    <a:bodyPr wrap="square"/>
                    <a:lstStyle/>
                    <a:p>
                      <a:pPr algn="ctr"/>
                      <a:r>
                        <a:rPr sz="1300">
                          <a:solidFill>
                            <a:srgbClr val="1A1A1A"/>
                          </a:solidFill>
                          <a:latin typeface="Segoe UI"/>
                        </a:rPr>
                        <a:t>Startups, mid-market</a:t>
                      </a:r>
                    </a:p>
                  </a:txBody>
                  <a:tcPr>
                    <a:solidFill>
                      <a:srgbClr val="FFFFFF"/>
                    </a:solidFill>
                  </a:tcPr>
                </a:tc>
                <a:tc>
                  <a:txBody>
                    <a:bodyPr wrap="square"/>
                    <a:lstStyle/>
                    <a:p>
                      <a:pPr algn="ctr"/>
                      <a:r>
                        <a:rPr sz="1300" b="1">
                          <a:solidFill>
                            <a:srgbClr val="0B6E7A"/>
                          </a:solidFill>
                          <a:latin typeface="Segoe UI"/>
                        </a:rPr>
                        <a:t>$0.02 / agent-hour</a:t>
                      </a:r>
                    </a:p>
                  </a:txBody>
                  <a:tcPr>
                    <a:solidFill>
                      <a:srgbClr val="FFFFFF"/>
                    </a:solidFill>
                  </a:tcPr>
                </a:tc>
              </a:tr>
            </a:tbl>
          </a:graphicData>
        </a:graphic>
      </p:graphicFrame>
      <p:sp>
        <p:nvSpPr>
          <p:cNvPr id="7" name="Rectangle 6"/>
          <p:cNvSpPr/>
          <p:nvPr/>
        </p:nvSpPr>
        <p:spPr>
          <a:xfrm>
            <a:off x="7863840" y="1828800"/>
            <a:ext cx="3657600" cy="2377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103120"/>
            <a:ext cx="3291840" cy="1828800"/>
          </a:xfrm>
          <a:prstGeom prst="rect">
            <a:avLst/>
          </a:prstGeom>
          <a:noFill/>
        </p:spPr>
        <p:txBody>
          <a:bodyPr wrap="square" anchor="ctr">
            <a:spAutoFit/>
          </a:bodyPr>
          <a:lstStyle/>
          <a:p>
            <a:pPr algn="ctr">
              <a:lnSpc>
                <a:spcPct val="110000"/>
              </a:lnSpc>
              <a:spcAft>
                <a:spcPts val="600"/>
              </a:spcAft>
            </a:pPr>
            <a:r>
              <a:rPr sz="3400" b="1" i="0">
                <a:solidFill>
                  <a:srgbClr val="F49D37"/>
                </a:solidFill>
                <a:latin typeface="Segoe UI"/>
              </a:rPr>
              <a:t>10:1 ROI</a:t>
            </a:r>
          </a:p>
          <a:p>
            <a:pPr algn="ctr">
              <a:lnSpc>
                <a:spcPct val="110000"/>
              </a:lnSpc>
              <a:spcAft>
                <a:spcPts val="600"/>
              </a:spcAft>
            </a:pPr>
            <a:r>
              <a:rPr sz="600" b="0" i="0">
                <a:solidFill>
                  <a:srgbClr val="FFFFFF"/>
                </a:solidFill>
                <a:latin typeface="Segoe UI"/>
              </a:rPr>
              <a:t/>
            </a:r>
          </a:p>
          <a:p>
            <a:pPr algn="ctr">
              <a:lnSpc>
                <a:spcPct val="110000"/>
              </a:lnSpc>
              <a:spcAft>
                <a:spcPts val="600"/>
              </a:spcAft>
            </a:pPr>
            <a:r>
              <a:rPr sz="1400" b="0" i="0">
                <a:solidFill>
                  <a:srgbClr val="FFFFFF"/>
                </a:solidFill>
                <a:latin typeface="Segoe UI"/>
              </a:rPr>
              <a:t>Customer saves $150K/yr</a:t>
            </a:r>
          </a:p>
          <a:p>
            <a:pPr algn="ctr">
              <a:lnSpc>
                <a:spcPct val="110000"/>
              </a:lnSpc>
              <a:spcAft>
                <a:spcPts val="600"/>
              </a:spcAft>
            </a:pPr>
            <a:r>
              <a:rPr sz="1400" b="0" i="0">
                <a:solidFill>
                  <a:srgbClr val="FFFFFF"/>
                </a:solidFill>
                <a:latin typeface="Segoe UI"/>
              </a:rPr>
              <a:t>in GPU costs, pays us $15K</a:t>
            </a:r>
          </a:p>
          <a:p>
            <a:pPr algn="ctr">
              <a:lnSpc>
                <a:spcPct val="110000"/>
              </a:lnSpc>
              <a:spcAft>
                <a:spcPts val="600"/>
              </a:spcAft>
            </a:pPr>
            <a:r>
              <a:rPr sz="600" b="0" i="0">
                <a:solidFill>
                  <a:srgbClr val="FFFFFF"/>
                </a:solidFill>
                <a:latin typeface="Segoe UI"/>
              </a:rPr>
              <a:t/>
            </a:r>
          </a:p>
          <a:p>
            <a:pPr algn="ctr">
              <a:lnSpc>
                <a:spcPct val="110000"/>
              </a:lnSpc>
              <a:spcAft>
                <a:spcPts val="600"/>
              </a:spcAft>
            </a:pPr>
            <a:r>
              <a:rPr sz="1300" b="1" i="0">
                <a:solidFill>
                  <a:srgbClr val="1B9AAA"/>
                </a:solidFill>
                <a:latin typeface="Segoe UI"/>
              </a:rPr>
              <a:t>Easy CFO approval.</a:t>
            </a:r>
          </a:p>
        </p:txBody>
      </p:sp>
      <p:sp>
        <p:nvSpPr>
          <p:cNvPr id="9" name="Rectangle 8"/>
          <p:cNvSpPr/>
          <p:nvPr/>
        </p:nvSpPr>
        <p:spPr>
          <a:xfrm>
            <a:off x="640080" y="4572000"/>
            <a:ext cx="3520440" cy="1645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572000"/>
            <a:ext cx="352044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754880"/>
            <a:ext cx="3520440" cy="457200"/>
          </a:xfrm>
          <a:prstGeom prst="rect">
            <a:avLst/>
          </a:prstGeom>
          <a:noFill/>
        </p:spPr>
        <p:txBody>
          <a:bodyPr wrap="square" anchor="t">
            <a:spAutoFit/>
          </a:bodyPr>
          <a:lstStyle/>
          <a:p>
            <a:pPr algn="ctr">
              <a:lnSpc>
                <a:spcPct val="100000"/>
              </a:lnSpc>
              <a:spcAft>
                <a:spcPts val="600"/>
              </a:spcAft>
            </a:pPr>
            <a:r>
              <a:rPr sz="1300" b="1" i="0">
                <a:solidFill>
                  <a:srgbClr val="555F6B"/>
                </a:solidFill>
                <a:latin typeface="Segoe UI"/>
              </a:rPr>
              <a:t>Year 2</a:t>
            </a:r>
          </a:p>
        </p:txBody>
      </p:sp>
      <p:sp>
        <p:nvSpPr>
          <p:cNvPr id="12" name="TextBox 11"/>
          <p:cNvSpPr txBox="1"/>
          <p:nvPr/>
        </p:nvSpPr>
        <p:spPr>
          <a:xfrm>
            <a:off x="640080" y="5074920"/>
            <a:ext cx="3520440" cy="640080"/>
          </a:xfrm>
          <a:prstGeom prst="rect">
            <a:avLst/>
          </a:prstGeom>
          <a:noFill/>
        </p:spPr>
        <p:txBody>
          <a:bodyPr wrap="square" anchor="t">
            <a:spAutoFit/>
          </a:bodyPr>
          <a:lstStyle/>
          <a:p>
            <a:pPr algn="ctr">
              <a:lnSpc>
                <a:spcPct val="100000"/>
              </a:lnSpc>
              <a:spcAft>
                <a:spcPts val="600"/>
              </a:spcAft>
            </a:pPr>
            <a:r>
              <a:rPr sz="2600" b="1" i="0">
                <a:solidFill>
                  <a:srgbClr val="0B6E7A"/>
                </a:solidFill>
                <a:latin typeface="Segoe UI"/>
              </a:rPr>
              <a:t>$750K ARR</a:t>
            </a:r>
          </a:p>
        </p:txBody>
      </p:sp>
      <p:sp>
        <p:nvSpPr>
          <p:cNvPr id="13" name="TextBox 12"/>
          <p:cNvSpPr txBox="1"/>
          <p:nvPr/>
        </p:nvSpPr>
        <p:spPr>
          <a:xfrm>
            <a:off x="640080" y="5623560"/>
            <a:ext cx="3520440" cy="457200"/>
          </a:xfrm>
          <a:prstGeom prst="rect">
            <a:avLst/>
          </a:prstGeom>
          <a:noFill/>
        </p:spPr>
        <p:txBody>
          <a:bodyPr wrap="square" anchor="t">
            <a:spAutoFit/>
          </a:bodyPr>
          <a:lstStyle/>
          <a:p>
            <a:pPr algn="ctr">
              <a:lnSpc>
                <a:spcPct val="100000"/>
              </a:lnSpc>
              <a:spcAft>
                <a:spcPts val="600"/>
              </a:spcAft>
            </a:pPr>
            <a:r>
              <a:rPr sz="1200" b="0" i="0">
                <a:solidFill>
                  <a:srgbClr val="555F6B"/>
                </a:solidFill>
                <a:latin typeface="Segoe UI"/>
              </a:rPr>
              <a:t>50 customers</a:t>
            </a:r>
          </a:p>
        </p:txBody>
      </p:sp>
      <p:sp>
        <p:nvSpPr>
          <p:cNvPr id="14" name="Rectangle 13"/>
          <p:cNvSpPr/>
          <p:nvPr/>
        </p:nvSpPr>
        <p:spPr>
          <a:xfrm>
            <a:off x="4389119" y="4572000"/>
            <a:ext cx="3520440" cy="1645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19" y="4572000"/>
            <a:ext cx="352044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4754880"/>
            <a:ext cx="3520440" cy="457200"/>
          </a:xfrm>
          <a:prstGeom prst="rect">
            <a:avLst/>
          </a:prstGeom>
          <a:noFill/>
        </p:spPr>
        <p:txBody>
          <a:bodyPr wrap="square" anchor="t">
            <a:spAutoFit/>
          </a:bodyPr>
          <a:lstStyle/>
          <a:p>
            <a:pPr algn="ctr">
              <a:lnSpc>
                <a:spcPct val="100000"/>
              </a:lnSpc>
              <a:spcAft>
                <a:spcPts val="600"/>
              </a:spcAft>
            </a:pPr>
            <a:r>
              <a:rPr sz="1300" b="1" i="0">
                <a:solidFill>
                  <a:srgbClr val="555F6B"/>
                </a:solidFill>
                <a:latin typeface="Segoe UI"/>
              </a:rPr>
              <a:t>Year 3</a:t>
            </a:r>
          </a:p>
        </p:txBody>
      </p:sp>
      <p:sp>
        <p:nvSpPr>
          <p:cNvPr id="17" name="TextBox 16"/>
          <p:cNvSpPr txBox="1"/>
          <p:nvPr/>
        </p:nvSpPr>
        <p:spPr>
          <a:xfrm>
            <a:off x="4389119" y="5074920"/>
            <a:ext cx="3520440" cy="640080"/>
          </a:xfrm>
          <a:prstGeom prst="rect">
            <a:avLst/>
          </a:prstGeom>
          <a:noFill/>
        </p:spPr>
        <p:txBody>
          <a:bodyPr wrap="square" anchor="t">
            <a:spAutoFit/>
          </a:bodyPr>
          <a:lstStyle/>
          <a:p>
            <a:pPr algn="ctr">
              <a:lnSpc>
                <a:spcPct val="100000"/>
              </a:lnSpc>
              <a:spcAft>
                <a:spcPts val="600"/>
              </a:spcAft>
            </a:pPr>
            <a:r>
              <a:rPr sz="2600" b="1" i="0">
                <a:solidFill>
                  <a:srgbClr val="0B6E7A"/>
                </a:solidFill>
                <a:latin typeface="Segoe UI"/>
              </a:rPr>
              <a:t>$5M ARR</a:t>
            </a:r>
          </a:p>
        </p:txBody>
      </p:sp>
      <p:sp>
        <p:nvSpPr>
          <p:cNvPr id="18" name="TextBox 17"/>
          <p:cNvSpPr txBox="1"/>
          <p:nvPr/>
        </p:nvSpPr>
        <p:spPr>
          <a:xfrm>
            <a:off x="4389119" y="5623560"/>
            <a:ext cx="3520440" cy="457200"/>
          </a:xfrm>
          <a:prstGeom prst="rect">
            <a:avLst/>
          </a:prstGeom>
          <a:noFill/>
        </p:spPr>
        <p:txBody>
          <a:bodyPr wrap="square" anchor="t">
            <a:spAutoFit/>
          </a:bodyPr>
          <a:lstStyle/>
          <a:p>
            <a:pPr algn="ctr">
              <a:lnSpc>
                <a:spcPct val="100000"/>
              </a:lnSpc>
              <a:spcAft>
                <a:spcPts val="600"/>
              </a:spcAft>
            </a:pPr>
            <a:r>
              <a:rPr sz="1200" b="0" i="0">
                <a:solidFill>
                  <a:srgbClr val="555F6B"/>
                </a:solidFill>
                <a:latin typeface="Segoe UI"/>
              </a:rPr>
              <a:t>200 customers</a:t>
            </a:r>
          </a:p>
        </p:txBody>
      </p:sp>
      <p:sp>
        <p:nvSpPr>
          <p:cNvPr id="19" name="Rectangle 18"/>
          <p:cNvSpPr/>
          <p:nvPr/>
        </p:nvSpPr>
        <p:spPr>
          <a:xfrm>
            <a:off x="8138158" y="4572000"/>
            <a:ext cx="3520440" cy="1645920"/>
          </a:xfrm>
          <a:prstGeom prst="rect">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58" y="4572000"/>
            <a:ext cx="3520440" cy="914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58" y="4754880"/>
            <a:ext cx="3520440" cy="457200"/>
          </a:xfrm>
          <a:prstGeom prst="rect">
            <a:avLst/>
          </a:prstGeom>
          <a:noFill/>
        </p:spPr>
        <p:txBody>
          <a:bodyPr wrap="square" anchor="t">
            <a:spAutoFit/>
          </a:bodyPr>
          <a:lstStyle/>
          <a:p>
            <a:pPr algn="ctr">
              <a:lnSpc>
                <a:spcPct val="100000"/>
              </a:lnSpc>
              <a:spcAft>
                <a:spcPts val="600"/>
              </a:spcAft>
            </a:pPr>
            <a:r>
              <a:rPr sz="1300" b="1" i="0">
                <a:solidFill>
                  <a:srgbClr val="555F6B"/>
                </a:solidFill>
                <a:latin typeface="Segoe UI"/>
              </a:rPr>
              <a:t>Year 5</a:t>
            </a:r>
          </a:p>
        </p:txBody>
      </p:sp>
      <p:sp>
        <p:nvSpPr>
          <p:cNvPr id="22" name="TextBox 21"/>
          <p:cNvSpPr txBox="1"/>
          <p:nvPr/>
        </p:nvSpPr>
        <p:spPr>
          <a:xfrm>
            <a:off x="8138158" y="5074920"/>
            <a:ext cx="3520440" cy="640080"/>
          </a:xfrm>
          <a:prstGeom prst="rect">
            <a:avLst/>
          </a:prstGeom>
          <a:noFill/>
        </p:spPr>
        <p:txBody>
          <a:bodyPr wrap="square" anchor="t">
            <a:spAutoFit/>
          </a:bodyPr>
          <a:lstStyle/>
          <a:p>
            <a:pPr algn="ctr">
              <a:lnSpc>
                <a:spcPct val="100000"/>
              </a:lnSpc>
              <a:spcAft>
                <a:spcPts val="600"/>
              </a:spcAft>
            </a:pPr>
            <a:r>
              <a:rPr sz="2600" b="1" i="0">
                <a:solidFill>
                  <a:srgbClr val="0B6E7A"/>
                </a:solidFill>
                <a:latin typeface="Segoe UI"/>
              </a:rPr>
              <a:t>$100M ARR</a:t>
            </a:r>
          </a:p>
        </p:txBody>
      </p:sp>
      <p:sp>
        <p:nvSpPr>
          <p:cNvPr id="23" name="TextBox 22"/>
          <p:cNvSpPr txBox="1"/>
          <p:nvPr/>
        </p:nvSpPr>
        <p:spPr>
          <a:xfrm>
            <a:off x="8138158" y="5623560"/>
            <a:ext cx="3520440" cy="457200"/>
          </a:xfrm>
          <a:prstGeom prst="rect">
            <a:avLst/>
          </a:prstGeom>
          <a:noFill/>
        </p:spPr>
        <p:txBody>
          <a:bodyPr wrap="square" anchor="t">
            <a:spAutoFit/>
          </a:bodyPr>
          <a:lstStyle/>
          <a:p>
            <a:pPr algn="ctr">
              <a:lnSpc>
                <a:spcPct val="100000"/>
              </a:lnSpc>
              <a:spcAft>
                <a:spcPts val="600"/>
              </a:spcAft>
            </a:pPr>
            <a:r>
              <a:rPr sz="1200" b="0" i="0">
                <a:solidFill>
                  <a:srgbClr val="555F6B"/>
                </a:solidFill>
                <a:latin typeface="Segoe UI"/>
              </a:rPr>
              <a:t>2,000 customers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MARKET &amp; EXIT</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$45B market — three paths to outsized returns</a:t>
            </a:r>
          </a:p>
        </p:txBody>
      </p:sp>
      <p:sp>
        <p:nvSpPr>
          <p:cNvPr id="6" name="Rectangle 5"/>
          <p:cNvSpPr/>
          <p:nvPr/>
        </p:nvSpPr>
        <p:spPr>
          <a:xfrm>
            <a:off x="640080" y="1828800"/>
            <a:ext cx="2743200" cy="18288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2743200" cy="640080"/>
          </a:xfrm>
          <a:prstGeom prst="rect">
            <a:avLst/>
          </a:prstGeom>
          <a:noFill/>
        </p:spPr>
        <p:txBody>
          <a:bodyPr wrap="square" anchor="t">
            <a:spAutoFit/>
          </a:bodyPr>
          <a:lstStyle/>
          <a:p>
            <a:pPr algn="ctr">
              <a:lnSpc>
                <a:spcPct val="100000"/>
              </a:lnSpc>
              <a:spcAft>
                <a:spcPts val="600"/>
              </a:spcAft>
            </a:pPr>
            <a:r>
              <a:rPr sz="3000" b="1" i="0">
                <a:solidFill>
                  <a:srgbClr val="FFFFFF"/>
                </a:solidFill>
                <a:latin typeface="Segoe UI"/>
              </a:rPr>
              <a:t>$45B</a:t>
            </a:r>
          </a:p>
        </p:txBody>
      </p:sp>
      <p:sp>
        <p:nvSpPr>
          <p:cNvPr id="8" name="TextBox 7"/>
          <p:cNvSpPr txBox="1"/>
          <p:nvPr/>
        </p:nvSpPr>
        <p:spPr>
          <a:xfrm>
            <a:off x="640080" y="2606040"/>
            <a:ext cx="2743200" cy="365760"/>
          </a:xfrm>
          <a:prstGeom prst="rect">
            <a:avLst/>
          </a:prstGeom>
          <a:noFill/>
        </p:spPr>
        <p:txBody>
          <a:bodyPr wrap="square" anchor="t">
            <a:spAutoFit/>
          </a:bodyPr>
          <a:lstStyle/>
          <a:p>
            <a:pPr algn="ctr">
              <a:lnSpc>
                <a:spcPct val="100000"/>
              </a:lnSpc>
              <a:spcAft>
                <a:spcPts val="600"/>
              </a:spcAft>
            </a:pPr>
            <a:r>
              <a:rPr sz="1300" b="1" i="0">
                <a:solidFill>
                  <a:srgbClr val="F49D37"/>
                </a:solidFill>
                <a:latin typeface="Segoe UI"/>
              </a:rPr>
              <a:t>TAM</a:t>
            </a:r>
          </a:p>
        </p:txBody>
      </p:sp>
      <p:sp>
        <p:nvSpPr>
          <p:cNvPr id="9" name="TextBox 8"/>
          <p:cNvSpPr txBox="1"/>
          <p:nvPr/>
        </p:nvSpPr>
        <p:spPr>
          <a:xfrm>
            <a:off x="640080" y="2926080"/>
            <a:ext cx="2743200" cy="640080"/>
          </a:xfrm>
          <a:prstGeom prst="rect">
            <a:avLst/>
          </a:prstGeom>
          <a:noFill/>
        </p:spPr>
        <p:txBody>
          <a:bodyPr wrap="square" anchor="t">
            <a:spAutoFit/>
          </a:bodyPr>
          <a:lstStyle/>
          <a:p>
            <a:pPr algn="ctr">
              <a:lnSpc>
                <a:spcPct val="100000"/>
              </a:lnSpc>
              <a:spcAft>
                <a:spcPts val="600"/>
              </a:spcAft>
            </a:pPr>
            <a:r>
              <a:rPr sz="1100" b="0" i="0">
                <a:solidFill>
                  <a:srgbClr val="F4F7F9"/>
                </a:solidFill>
                <a:latin typeface="Segoe UI"/>
              </a:rPr>
              <a:t>AI inference
infrastructure</a:t>
            </a:r>
          </a:p>
        </p:txBody>
      </p:sp>
      <p:sp>
        <p:nvSpPr>
          <p:cNvPr id="10" name="Rectangle 9"/>
          <p:cNvSpPr/>
          <p:nvPr/>
        </p:nvSpPr>
        <p:spPr>
          <a:xfrm>
            <a:off x="3611880" y="1828800"/>
            <a:ext cx="2743200" cy="1828800"/>
          </a:xfrm>
          <a:prstGeom prst="rect">
            <a:avLst/>
          </a:prstGeom>
          <a:solidFill>
            <a:srgbClr val="0B6E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011680"/>
            <a:ext cx="2743200" cy="640080"/>
          </a:xfrm>
          <a:prstGeom prst="rect">
            <a:avLst/>
          </a:prstGeom>
          <a:noFill/>
        </p:spPr>
        <p:txBody>
          <a:bodyPr wrap="square" anchor="t">
            <a:spAutoFit/>
          </a:bodyPr>
          <a:lstStyle/>
          <a:p>
            <a:pPr algn="ctr">
              <a:lnSpc>
                <a:spcPct val="100000"/>
              </a:lnSpc>
              <a:spcAft>
                <a:spcPts val="600"/>
              </a:spcAft>
            </a:pPr>
            <a:r>
              <a:rPr sz="3000" b="1" i="0">
                <a:solidFill>
                  <a:srgbClr val="FFFFFF"/>
                </a:solidFill>
                <a:latin typeface="Segoe UI"/>
              </a:rPr>
              <a:t>$8B</a:t>
            </a:r>
          </a:p>
        </p:txBody>
      </p:sp>
      <p:sp>
        <p:nvSpPr>
          <p:cNvPr id="12" name="TextBox 11"/>
          <p:cNvSpPr txBox="1"/>
          <p:nvPr/>
        </p:nvSpPr>
        <p:spPr>
          <a:xfrm>
            <a:off x="3611880" y="2606040"/>
            <a:ext cx="2743200" cy="365760"/>
          </a:xfrm>
          <a:prstGeom prst="rect">
            <a:avLst/>
          </a:prstGeom>
          <a:noFill/>
        </p:spPr>
        <p:txBody>
          <a:bodyPr wrap="square" anchor="t">
            <a:spAutoFit/>
          </a:bodyPr>
          <a:lstStyle/>
          <a:p>
            <a:pPr algn="ctr">
              <a:lnSpc>
                <a:spcPct val="100000"/>
              </a:lnSpc>
              <a:spcAft>
                <a:spcPts val="600"/>
              </a:spcAft>
            </a:pPr>
            <a:r>
              <a:rPr sz="1300" b="1" i="0">
                <a:solidFill>
                  <a:srgbClr val="F49D37"/>
                </a:solidFill>
                <a:latin typeface="Segoe UI"/>
              </a:rPr>
              <a:t>SAM</a:t>
            </a:r>
          </a:p>
        </p:txBody>
      </p:sp>
      <p:sp>
        <p:nvSpPr>
          <p:cNvPr id="13" name="TextBox 12"/>
          <p:cNvSpPr txBox="1"/>
          <p:nvPr/>
        </p:nvSpPr>
        <p:spPr>
          <a:xfrm>
            <a:off x="3611880" y="2926080"/>
            <a:ext cx="2743200" cy="640080"/>
          </a:xfrm>
          <a:prstGeom prst="rect">
            <a:avLst/>
          </a:prstGeom>
          <a:noFill/>
        </p:spPr>
        <p:txBody>
          <a:bodyPr wrap="square" anchor="t">
            <a:spAutoFit/>
          </a:bodyPr>
          <a:lstStyle/>
          <a:p>
            <a:pPr algn="ctr">
              <a:lnSpc>
                <a:spcPct val="100000"/>
              </a:lnSpc>
              <a:spcAft>
                <a:spcPts val="600"/>
              </a:spcAft>
            </a:pPr>
            <a:r>
              <a:rPr sz="1100" b="0" i="0">
                <a:solidFill>
                  <a:srgbClr val="F4F7F9"/>
                </a:solidFill>
                <a:latin typeface="Segoe UI"/>
              </a:rPr>
              <a:t>Persistent agent
serving</a:t>
            </a:r>
          </a:p>
        </p:txBody>
      </p:sp>
      <p:sp>
        <p:nvSpPr>
          <p:cNvPr id="14" name="Rectangle 13"/>
          <p:cNvSpPr/>
          <p:nvPr/>
        </p:nvSpPr>
        <p:spPr>
          <a:xfrm>
            <a:off x="6583680" y="1828800"/>
            <a:ext cx="2743200" cy="18288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011680"/>
            <a:ext cx="2743200" cy="640080"/>
          </a:xfrm>
          <a:prstGeom prst="rect">
            <a:avLst/>
          </a:prstGeom>
          <a:noFill/>
        </p:spPr>
        <p:txBody>
          <a:bodyPr wrap="square" anchor="t">
            <a:spAutoFit/>
          </a:bodyPr>
          <a:lstStyle/>
          <a:p>
            <a:pPr algn="ctr">
              <a:lnSpc>
                <a:spcPct val="100000"/>
              </a:lnSpc>
              <a:spcAft>
                <a:spcPts val="600"/>
              </a:spcAft>
            </a:pPr>
            <a:r>
              <a:rPr sz="3000" b="1" i="0">
                <a:solidFill>
                  <a:srgbClr val="FFFFFF"/>
                </a:solidFill>
                <a:latin typeface="Segoe UI"/>
              </a:rPr>
              <a:t>$100M+</a:t>
            </a:r>
          </a:p>
        </p:txBody>
      </p:sp>
      <p:sp>
        <p:nvSpPr>
          <p:cNvPr id="16" name="TextBox 15"/>
          <p:cNvSpPr txBox="1"/>
          <p:nvPr/>
        </p:nvSpPr>
        <p:spPr>
          <a:xfrm>
            <a:off x="6583680" y="2606040"/>
            <a:ext cx="2743200" cy="365760"/>
          </a:xfrm>
          <a:prstGeom prst="rect">
            <a:avLst/>
          </a:prstGeom>
          <a:noFill/>
        </p:spPr>
        <p:txBody>
          <a:bodyPr wrap="square" anchor="t">
            <a:spAutoFit/>
          </a:bodyPr>
          <a:lstStyle/>
          <a:p>
            <a:pPr algn="ctr">
              <a:lnSpc>
                <a:spcPct val="100000"/>
              </a:lnSpc>
              <a:spcAft>
                <a:spcPts val="600"/>
              </a:spcAft>
            </a:pPr>
            <a:r>
              <a:rPr sz="1300" b="1" i="0">
                <a:solidFill>
                  <a:srgbClr val="F49D37"/>
                </a:solidFill>
                <a:latin typeface="Segoe UI"/>
              </a:rPr>
              <a:t>SOM (Yr 5)</a:t>
            </a:r>
          </a:p>
        </p:txBody>
      </p:sp>
      <p:sp>
        <p:nvSpPr>
          <p:cNvPr id="17" name="TextBox 16"/>
          <p:cNvSpPr txBox="1"/>
          <p:nvPr/>
        </p:nvSpPr>
        <p:spPr>
          <a:xfrm>
            <a:off x="6583680" y="2926080"/>
            <a:ext cx="2743200" cy="640080"/>
          </a:xfrm>
          <a:prstGeom prst="rect">
            <a:avLst/>
          </a:prstGeom>
          <a:noFill/>
        </p:spPr>
        <p:txBody>
          <a:bodyPr wrap="square" anchor="t">
            <a:spAutoFit/>
          </a:bodyPr>
          <a:lstStyle/>
          <a:p>
            <a:pPr algn="ctr">
              <a:lnSpc>
                <a:spcPct val="100000"/>
              </a:lnSpc>
              <a:spcAft>
                <a:spcPts val="600"/>
              </a:spcAft>
            </a:pPr>
            <a:r>
              <a:rPr sz="1100" b="0" i="0">
                <a:solidFill>
                  <a:srgbClr val="F4F7F9"/>
                </a:solidFill>
                <a:latin typeface="Segoe UI"/>
              </a:rPr>
              <a:t>Our realistic
capture</a:t>
            </a:r>
          </a:p>
        </p:txBody>
      </p:sp>
      <p:sp>
        <p:nvSpPr>
          <p:cNvPr id="18" name="Rectangle 17"/>
          <p:cNvSpPr/>
          <p:nvPr/>
        </p:nvSpPr>
        <p:spPr>
          <a:xfrm>
            <a:off x="9601200" y="1828800"/>
            <a:ext cx="1965960" cy="1828800"/>
          </a:xfrm>
          <a:prstGeom prst="rect">
            <a:avLst/>
          </a:prstGeom>
          <a:solidFill>
            <a:srgbClr val="F49D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2011680"/>
            <a:ext cx="1965960" cy="1645920"/>
          </a:xfrm>
          <a:prstGeom prst="rect">
            <a:avLst/>
          </a:prstGeom>
          <a:noFill/>
        </p:spPr>
        <p:txBody>
          <a:bodyPr wrap="square" anchor="ctr">
            <a:spAutoFit/>
          </a:bodyPr>
          <a:lstStyle/>
          <a:p>
            <a:pPr algn="ctr">
              <a:lnSpc>
                <a:spcPct val="100000"/>
              </a:lnSpc>
              <a:spcAft>
                <a:spcPts val="600"/>
              </a:spcAft>
            </a:pPr>
            <a:r>
              <a:rPr sz="2400" b="1" i="0">
                <a:solidFill>
                  <a:srgbClr val="0B1F3A"/>
                </a:solidFill>
                <a:latin typeface="Segoe UI"/>
              </a:rPr>
              <a:t>25–35%</a:t>
            </a:r>
          </a:p>
          <a:p>
            <a:pPr algn="ctr">
              <a:lnSpc>
                <a:spcPct val="100000"/>
              </a:lnSpc>
              <a:spcAft>
                <a:spcPts val="600"/>
              </a:spcAft>
            </a:pPr>
            <a:r>
              <a:rPr sz="1300" b="1" i="0">
                <a:solidFill>
                  <a:srgbClr val="0B1F3A"/>
                </a:solidFill>
                <a:latin typeface="Segoe UI"/>
              </a:rPr>
              <a:t>CAGR</a:t>
            </a:r>
          </a:p>
          <a:p>
            <a:pPr algn="ctr">
              <a:lnSpc>
                <a:spcPct val="100000"/>
              </a:lnSpc>
              <a:spcAft>
                <a:spcPts val="600"/>
              </a:spcAft>
            </a:pPr>
            <a:r>
              <a:rPr sz="400" b="0" i="0">
                <a:solidFill>
                  <a:srgbClr val="0B1F3A"/>
                </a:solidFill>
                <a:latin typeface="Segoe UI"/>
              </a:rPr>
              <a:t/>
            </a:r>
          </a:p>
          <a:p>
            <a:pPr algn="ctr">
              <a:lnSpc>
                <a:spcPct val="100000"/>
              </a:lnSpc>
              <a:spcAft>
                <a:spcPts val="600"/>
              </a:spcAft>
            </a:pPr>
            <a:r>
              <a:rPr sz="1100" b="0" i="0">
                <a:solidFill>
                  <a:srgbClr val="0B1F3A"/>
                </a:solidFill>
                <a:latin typeface="Segoe UI"/>
              </a:rPr>
              <a:t>Growing every</a:t>
            </a:r>
          </a:p>
          <a:p>
            <a:pPr algn="ctr">
              <a:lnSpc>
                <a:spcPct val="100000"/>
              </a:lnSpc>
              <a:spcAft>
                <a:spcPts val="600"/>
              </a:spcAft>
            </a:pPr>
            <a:r>
              <a:rPr sz="1100" b="0" i="0">
                <a:solidFill>
                  <a:srgbClr val="0B1F3A"/>
                </a:solidFill>
                <a:latin typeface="Segoe UI"/>
              </a:rPr>
              <a:t>quarter</a:t>
            </a:r>
          </a:p>
        </p:txBody>
      </p:sp>
      <p:graphicFrame>
        <p:nvGraphicFramePr>
          <p:cNvPr id="20" name="Table 19"/>
          <p:cNvGraphicFramePr>
            <a:graphicFrameLocks noGrp="1"/>
          </p:cNvGraphicFramePr>
          <p:nvPr/>
        </p:nvGraphicFramePr>
        <p:xfrm>
          <a:off x="640080" y="4023360"/>
          <a:ext cx="10881360" cy="2194560"/>
        </p:xfrm>
        <a:graphic>
          <a:graphicData uri="http://schemas.openxmlformats.org/drawingml/2006/table">
            <a:tbl>
              <a:tblPr firstRow="1" bandRow="1">
                <a:tableStyleId>{5C22544A-7EE6-4342-B048-85BDC9FD1C3A}</a:tableStyleId>
              </a:tblPr>
              <a:tblGrid>
                <a:gridCol w="3627120"/>
                <a:gridCol w="3627120"/>
                <a:gridCol w="3627120"/>
              </a:tblGrid>
              <a:tr h="548640">
                <a:tc>
                  <a:txBody>
                    <a:bodyPr wrap="square"/>
                    <a:lstStyle/>
                    <a:p>
                      <a:pPr algn="l"/>
                      <a:r>
                        <a:rPr sz="1200" b="1">
                          <a:solidFill>
                            <a:srgbClr val="FFFFFF"/>
                          </a:solidFill>
                          <a:latin typeface="Segoe UI"/>
                        </a:rPr>
                        <a:t>Exit Path</a:t>
                      </a:r>
                    </a:p>
                  </a:txBody>
                  <a:tcPr>
                    <a:solidFill>
                      <a:srgbClr val="0B1F3A"/>
                    </a:solidFill>
                  </a:tcPr>
                </a:tc>
                <a:tc>
                  <a:txBody>
                    <a:bodyPr wrap="square"/>
                    <a:lstStyle/>
                    <a:p>
                      <a:pPr algn="ctr"/>
                      <a:r>
                        <a:rPr sz="1200" b="1">
                          <a:solidFill>
                            <a:srgbClr val="FFFFFF"/>
                          </a:solidFill>
                          <a:latin typeface="Segoe UI"/>
                        </a:rPr>
                        <a:t>How</a:t>
                      </a:r>
                    </a:p>
                  </a:txBody>
                  <a:tcPr>
                    <a:solidFill>
                      <a:srgbClr val="0B1F3A"/>
                    </a:solidFill>
                  </a:tcPr>
                </a:tc>
                <a:tc>
                  <a:txBody>
                    <a:bodyPr wrap="square"/>
                    <a:lstStyle/>
                    <a:p>
                      <a:pPr algn="ctr"/>
                      <a:r>
                        <a:rPr sz="1200" b="1">
                          <a:solidFill>
                            <a:srgbClr val="FFFFFF"/>
                          </a:solidFill>
                          <a:latin typeface="Segoe UI"/>
                        </a:rPr>
                        <a:t>Potential</a:t>
                      </a:r>
                    </a:p>
                  </a:txBody>
                  <a:tcPr>
                    <a:solidFill>
                      <a:srgbClr val="0B1F3A"/>
                    </a:solidFill>
                  </a:tcPr>
                </a:tc>
              </a:tr>
              <a:tr h="548640">
                <a:tc>
                  <a:txBody>
                    <a:bodyPr wrap="square"/>
                    <a:lstStyle/>
                    <a:p>
                      <a:pPr algn="l"/>
                      <a:r>
                        <a:rPr sz="1300">
                          <a:solidFill>
                            <a:srgbClr val="1A1A1A"/>
                          </a:solidFill>
                          <a:latin typeface="Segoe UI"/>
                        </a:rPr>
                        <a:t>Category leader</a:t>
                      </a:r>
                    </a:p>
                  </a:txBody>
                  <a:tcPr>
                    <a:solidFill>
                      <a:srgbClr val="FFFFFF"/>
                    </a:solidFill>
                  </a:tcPr>
                </a:tc>
                <a:tc>
                  <a:txBody>
                    <a:bodyPr wrap="square"/>
                    <a:lstStyle/>
                    <a:p>
                      <a:pPr algn="ctr"/>
                      <a:r>
                        <a:rPr sz="1300">
                          <a:solidFill>
                            <a:srgbClr val="1A1A1A"/>
                          </a:solidFill>
                          <a:latin typeface="Segoe UI"/>
                        </a:rPr>
                        <a:t>"Nemorix" = agent memory (like K8s = orchestration)</a:t>
                      </a:r>
                    </a:p>
                  </a:txBody>
                  <a:tcPr>
                    <a:solidFill>
                      <a:srgbClr val="FFFFFF"/>
                    </a:solidFill>
                  </a:tcPr>
                </a:tc>
                <a:tc>
                  <a:txBody>
                    <a:bodyPr wrap="square"/>
                    <a:lstStyle/>
                    <a:p>
                      <a:pPr algn="ctr"/>
                      <a:r>
                        <a:rPr sz="1300" b="1">
                          <a:solidFill>
                            <a:srgbClr val="0B6E7A"/>
                          </a:solidFill>
                          <a:latin typeface="Segoe UI"/>
                        </a:rPr>
                        <a:t>$2B+</a:t>
                      </a:r>
                    </a:p>
                  </a:txBody>
                  <a:tcPr>
                    <a:solidFill>
                      <a:srgbClr val="FFFFFF"/>
                    </a:solidFill>
                  </a:tcPr>
                </a:tc>
              </a:tr>
              <a:tr h="548640">
                <a:tc>
                  <a:txBody>
                    <a:bodyPr wrap="square"/>
                    <a:lstStyle/>
                    <a:p>
                      <a:pPr algn="l"/>
                      <a:r>
                        <a:rPr sz="1300">
                          <a:solidFill>
                            <a:srgbClr val="1A1A1A"/>
                          </a:solidFill>
                          <a:latin typeface="Segoe UI"/>
                        </a:rPr>
                        <a:t>Strategic acquisition</a:t>
                      </a:r>
                    </a:p>
                  </a:txBody>
                  <a:tcPr>
                    <a:solidFill>
                      <a:srgbClr val="F4F7F9"/>
                    </a:solidFill>
                  </a:tcPr>
                </a:tc>
                <a:tc>
                  <a:txBody>
                    <a:bodyPr wrap="square"/>
                    <a:lstStyle/>
                    <a:p>
                      <a:pPr algn="ctr"/>
                      <a:r>
                        <a:rPr sz="1300">
                          <a:solidFill>
                            <a:srgbClr val="1A1A1A"/>
                          </a:solidFill>
                          <a:latin typeface="Segoe UI"/>
                        </a:rPr>
                        <a:t>NVIDIA, Samsung, Intel buy the software layer</a:t>
                      </a:r>
                    </a:p>
                  </a:txBody>
                  <a:tcPr>
                    <a:solidFill>
                      <a:srgbClr val="F4F7F9"/>
                    </a:solidFill>
                  </a:tcPr>
                </a:tc>
                <a:tc>
                  <a:txBody>
                    <a:bodyPr wrap="square"/>
                    <a:lstStyle/>
                    <a:p>
                      <a:pPr algn="ctr"/>
                      <a:r>
                        <a:rPr sz="1300" b="1">
                          <a:solidFill>
                            <a:srgbClr val="0B6E7A"/>
                          </a:solidFill>
                          <a:latin typeface="Segoe UI"/>
                        </a:rPr>
                        <a:t>$500M–$2B</a:t>
                      </a:r>
                    </a:p>
                  </a:txBody>
                  <a:tcPr>
                    <a:solidFill>
                      <a:srgbClr val="F4F7F9"/>
                    </a:solidFill>
                  </a:tcPr>
                </a:tc>
              </a:tr>
              <a:tr h="548640">
                <a:tc>
                  <a:txBody>
                    <a:bodyPr wrap="square"/>
                    <a:lstStyle/>
                    <a:p>
                      <a:pPr algn="l"/>
                      <a:r>
                        <a:rPr sz="1300">
                          <a:solidFill>
                            <a:srgbClr val="1A1A1A"/>
                          </a:solidFill>
                          <a:latin typeface="Segoe UI"/>
                        </a:rPr>
                        <a:t>Hardware partnership</a:t>
                      </a:r>
                    </a:p>
                  </a:txBody>
                  <a:tcPr>
                    <a:solidFill>
                      <a:srgbClr val="FFFFFF"/>
                    </a:solidFill>
                  </a:tcPr>
                </a:tc>
                <a:tc>
                  <a:txBody>
                    <a:bodyPr wrap="square"/>
                    <a:lstStyle/>
                    <a:p>
                      <a:pPr algn="ctr"/>
                      <a:r>
                        <a:rPr sz="1300">
                          <a:solidFill>
                            <a:srgbClr val="1A1A1A"/>
                          </a:solidFill>
                          <a:latin typeface="Segoe UI"/>
                        </a:rPr>
                        <a:t>CXL vendors co-invest to drive adoption</a:t>
                      </a:r>
                    </a:p>
                  </a:txBody>
                  <a:tcPr>
                    <a:solidFill>
                      <a:srgbClr val="FFFFFF"/>
                    </a:solidFill>
                  </a:tcPr>
                </a:tc>
                <a:tc>
                  <a:txBody>
                    <a:bodyPr wrap="square"/>
                    <a:lstStyle/>
                    <a:p>
                      <a:pPr algn="ctr"/>
                      <a:r>
                        <a:rPr sz="1300" b="1">
                          <a:solidFill>
                            <a:srgbClr val="0B6E7A"/>
                          </a:solidFill>
                          <a:latin typeface="Segoe UI"/>
                        </a:rPr>
                        <a:t>Revenue + equity</a:t>
                      </a:r>
                    </a:p>
                  </a:txBody>
                  <a:tcPr>
                    <a:solidFill>
                      <a:srgbClr val="FFFFFF"/>
                    </a:solidFill>
                  </a:tcPr>
                </a:tc>
              </a:tr>
            </a:tbl>
          </a:graphicData>
        </a:graphic>
      </p:graphicFrame>
      <p:sp>
        <p:nvSpPr>
          <p:cNvPr id="21" name="TextBox 20"/>
          <p:cNvSpPr txBox="1"/>
          <p:nvPr/>
        </p:nvSpPr>
        <p:spPr>
          <a:xfrm>
            <a:off x="640080" y="6309360"/>
            <a:ext cx="10881360" cy="457200"/>
          </a:xfrm>
          <a:prstGeom prst="rect">
            <a:avLst/>
          </a:prstGeom>
          <a:noFill/>
        </p:spPr>
        <p:txBody>
          <a:bodyPr wrap="square" anchor="t">
            <a:spAutoFit/>
          </a:bodyPr>
          <a:lstStyle/>
          <a:p>
            <a:pPr algn="l">
              <a:lnSpc>
                <a:spcPct val="100000"/>
              </a:lnSpc>
              <a:spcAft>
                <a:spcPts val="600"/>
              </a:spcAft>
            </a:pPr>
            <a:r>
              <a:rPr sz="1200" b="0" i="1">
                <a:solidFill>
                  <a:srgbClr val="555F6B"/>
                </a:solidFill>
                <a:latin typeface="Segoe UI"/>
              </a:rPr>
              <a:t>Comparable exits: Databricks $62B · HashiCorp $6.8B (IBM) · Mellanox $6.9B (NVIDIA) · Redis $2B+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THE ASK &amp; PLAN</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Fund a new R&amp;D track to validate on real hardware</a:t>
            </a:r>
          </a:p>
        </p:txBody>
      </p:sp>
      <p:graphicFrame>
        <p:nvGraphicFramePr>
          <p:cNvPr id="6" name="Table 5"/>
          <p:cNvGraphicFramePr>
            <a:graphicFrameLocks noGrp="1"/>
          </p:cNvGraphicFramePr>
          <p:nvPr/>
        </p:nvGraphicFramePr>
        <p:xfrm>
          <a:off x="640080" y="1828800"/>
          <a:ext cx="7680960" cy="3291840"/>
        </p:xfrm>
        <a:graphic>
          <a:graphicData uri="http://schemas.openxmlformats.org/drawingml/2006/table">
            <a:tbl>
              <a:tblPr firstRow="1" bandRow="1">
                <a:tableStyleId>{5C22544A-7EE6-4342-B048-85BDC9FD1C3A}</a:tableStyleId>
              </a:tblPr>
              <a:tblGrid>
                <a:gridCol w="2560320"/>
                <a:gridCol w="2560320"/>
                <a:gridCol w="2560320"/>
              </a:tblGrid>
              <a:tr h="548640">
                <a:tc>
                  <a:txBody>
                    <a:bodyPr wrap="square"/>
                    <a:lstStyle/>
                    <a:p>
                      <a:pPr algn="l"/>
                      <a:r>
                        <a:rPr sz="1250" b="1">
                          <a:solidFill>
                            <a:srgbClr val="FFFFFF"/>
                          </a:solidFill>
                          <a:latin typeface="Segoe UI"/>
                        </a:rPr>
                        <a:t>Phase</a:t>
                      </a:r>
                    </a:p>
                  </a:txBody>
                  <a:tcPr>
                    <a:solidFill>
                      <a:srgbClr val="0B1F3A"/>
                    </a:solidFill>
                  </a:tcPr>
                </a:tc>
                <a:tc>
                  <a:txBody>
                    <a:bodyPr wrap="square"/>
                    <a:lstStyle/>
                    <a:p>
                      <a:pPr algn="ctr"/>
                      <a:r>
                        <a:rPr sz="1250" b="1">
                          <a:solidFill>
                            <a:srgbClr val="FFFFFF"/>
                          </a:solidFill>
                          <a:latin typeface="Segoe UI"/>
                        </a:rPr>
                        <a:t>What</a:t>
                      </a:r>
                    </a:p>
                  </a:txBody>
                  <a:tcPr>
                    <a:solidFill>
                      <a:srgbClr val="0B1F3A"/>
                    </a:solidFill>
                  </a:tcPr>
                </a:tc>
                <a:tc>
                  <a:txBody>
                    <a:bodyPr wrap="square"/>
                    <a:lstStyle/>
                    <a:p>
                      <a:pPr algn="ctr"/>
                      <a:r>
                        <a:rPr sz="1250" b="1">
                          <a:solidFill>
                            <a:srgbClr val="FFFFFF"/>
                          </a:solidFill>
                          <a:latin typeface="Segoe UI"/>
                        </a:rPr>
                        <a:t>Outcome</a:t>
                      </a:r>
                    </a:p>
                  </a:txBody>
                  <a:tcPr>
                    <a:solidFill>
                      <a:srgbClr val="0B1F3A"/>
                    </a:solidFill>
                  </a:tcPr>
                </a:tc>
              </a:tr>
              <a:tr h="548640">
                <a:tc>
                  <a:txBody>
                    <a:bodyPr wrap="square"/>
                    <a:lstStyle/>
                    <a:p>
                      <a:pPr algn="l"/>
                      <a:r>
                        <a:rPr sz="1250">
                          <a:solidFill>
                            <a:srgbClr val="1A1A1A"/>
                          </a:solidFill>
                          <a:latin typeface="Segoe UI"/>
                        </a:rPr>
                        <a:t>Now ✓</a:t>
                      </a:r>
                    </a:p>
                  </a:txBody>
                  <a:tcPr>
                    <a:solidFill>
                      <a:srgbClr val="FFFFFF"/>
                    </a:solidFill>
                  </a:tcPr>
                </a:tc>
                <a:tc>
                  <a:txBody>
                    <a:bodyPr wrap="square"/>
                    <a:lstStyle/>
                    <a:p>
                      <a:pPr algn="ctr"/>
                      <a:r>
                        <a:rPr sz="1250">
                          <a:solidFill>
                            <a:srgbClr val="1A1A1A"/>
                          </a:solidFill>
                          <a:latin typeface="Segoe UI"/>
                        </a:rPr>
                        <a:t>Simulator + paper draft</a:t>
                      </a:r>
                    </a:p>
                  </a:txBody>
                  <a:tcPr>
                    <a:solidFill>
                      <a:srgbClr val="FFFFFF"/>
                    </a:solidFill>
                  </a:tcPr>
                </a:tc>
                <a:tc>
                  <a:txBody>
                    <a:bodyPr wrap="square"/>
                    <a:lstStyle/>
                    <a:p>
                      <a:pPr algn="ctr"/>
                      <a:r>
                        <a:rPr sz="1250" b="1">
                          <a:solidFill>
                            <a:srgbClr val="0B6E7A"/>
                          </a:solidFill>
                          <a:latin typeface="Segoe UI"/>
                        </a:rPr>
                        <a:t>74 tests, preprint-ready</a:t>
                      </a:r>
                    </a:p>
                  </a:txBody>
                  <a:tcPr>
                    <a:solidFill>
                      <a:srgbClr val="FFFFFF"/>
                    </a:solidFill>
                  </a:tcPr>
                </a:tc>
              </a:tr>
              <a:tr h="548640">
                <a:tc>
                  <a:txBody>
                    <a:bodyPr wrap="square"/>
                    <a:lstStyle/>
                    <a:p>
                      <a:pPr algn="l"/>
                      <a:r>
                        <a:rPr sz="1250">
                          <a:solidFill>
                            <a:srgbClr val="1A1A1A"/>
                          </a:solidFill>
                          <a:latin typeface="Segoe UI"/>
                        </a:rPr>
                        <a:t>0–6 mo</a:t>
                      </a:r>
                    </a:p>
                  </a:txBody>
                  <a:tcPr>
                    <a:solidFill>
                      <a:srgbClr val="F4F7F9"/>
                    </a:solidFill>
                  </a:tcPr>
                </a:tc>
                <a:tc>
                  <a:txBody>
                    <a:bodyPr wrap="square"/>
                    <a:lstStyle/>
                    <a:p>
                      <a:pPr algn="ctr"/>
                      <a:r>
                        <a:rPr sz="1250">
                          <a:solidFill>
                            <a:srgbClr val="1A1A1A"/>
                          </a:solidFill>
                          <a:latin typeface="Segoe UI"/>
                        </a:rPr>
                        <a:t>Workshop paper + arXiv</a:t>
                      </a:r>
                    </a:p>
                  </a:txBody>
                  <a:tcPr>
                    <a:solidFill>
                      <a:srgbClr val="F4F7F9"/>
                    </a:solidFill>
                  </a:tcPr>
                </a:tc>
                <a:tc>
                  <a:txBody>
                    <a:bodyPr wrap="square"/>
                    <a:lstStyle/>
                    <a:p>
                      <a:pPr algn="ctr"/>
                      <a:r>
                        <a:rPr sz="1250" b="1">
                          <a:solidFill>
                            <a:srgbClr val="0B6E7A"/>
                          </a:solidFill>
                          <a:latin typeface="Segoe UI"/>
                        </a:rPr>
                        <a:t>priority + credibility</a:t>
                      </a:r>
                    </a:p>
                  </a:txBody>
                  <a:tcPr>
                    <a:solidFill>
                      <a:srgbClr val="F4F7F9"/>
                    </a:solidFill>
                  </a:tcPr>
                </a:tc>
              </a:tr>
              <a:tr h="548640">
                <a:tc>
                  <a:txBody>
                    <a:bodyPr wrap="square"/>
                    <a:lstStyle/>
                    <a:p>
                      <a:pPr algn="l"/>
                      <a:r>
                        <a:rPr sz="1250">
                          <a:solidFill>
                            <a:srgbClr val="1A1A1A"/>
                          </a:solidFill>
                          <a:latin typeface="Segoe UI"/>
                        </a:rPr>
                        <a:t>3–9 mo</a:t>
                      </a:r>
                    </a:p>
                  </a:txBody>
                  <a:tcPr>
                    <a:solidFill>
                      <a:srgbClr val="FFFFFF"/>
                    </a:solidFill>
                  </a:tcPr>
                </a:tc>
                <a:tc>
                  <a:txBody>
                    <a:bodyPr wrap="square"/>
                    <a:lstStyle/>
                    <a:p>
                      <a:pPr algn="ctr"/>
                      <a:r>
                        <a:rPr sz="1250">
                          <a:solidFill>
                            <a:srgbClr val="1A1A1A"/>
                          </a:solidFill>
                          <a:latin typeface="Segoe UI"/>
                        </a:rPr>
                        <a:t>vLLM + real H100 + CXL DIMM</a:t>
                      </a:r>
                    </a:p>
                  </a:txBody>
                  <a:tcPr>
                    <a:solidFill>
                      <a:srgbClr val="FFFFFF"/>
                    </a:solidFill>
                  </a:tcPr>
                </a:tc>
                <a:tc>
                  <a:txBody>
                    <a:bodyPr wrap="square"/>
                    <a:lstStyle/>
                    <a:p>
                      <a:pPr algn="ctr"/>
                      <a:r>
                        <a:rPr sz="1250" b="1">
                          <a:solidFill>
                            <a:srgbClr val="0B6E7A"/>
                          </a:solidFill>
                          <a:latin typeface="Segoe UI"/>
                        </a:rPr>
                        <a:t>measured, not simulated</a:t>
                      </a:r>
                    </a:p>
                  </a:txBody>
                  <a:tcPr>
                    <a:solidFill>
                      <a:srgbClr val="FFFFFF"/>
                    </a:solidFill>
                  </a:tcPr>
                </a:tc>
              </a:tr>
              <a:tr h="548640">
                <a:tc>
                  <a:txBody>
                    <a:bodyPr wrap="square"/>
                    <a:lstStyle/>
                    <a:p>
                      <a:pPr algn="l"/>
                      <a:r>
                        <a:rPr sz="1250">
                          <a:solidFill>
                            <a:srgbClr val="1A1A1A"/>
                          </a:solidFill>
                          <a:latin typeface="Segoe UI"/>
                        </a:rPr>
                        <a:t>6–12 mo</a:t>
                      </a:r>
                    </a:p>
                  </a:txBody>
                  <a:tcPr>
                    <a:solidFill>
                      <a:srgbClr val="F4F7F9"/>
                    </a:solidFill>
                  </a:tcPr>
                </a:tc>
                <a:tc>
                  <a:txBody>
                    <a:bodyPr wrap="square"/>
                    <a:lstStyle/>
                    <a:p>
                      <a:pPr algn="ctr"/>
                      <a:r>
                        <a:rPr sz="1250">
                          <a:solidFill>
                            <a:srgbClr val="1A1A1A"/>
                          </a:solidFill>
                          <a:latin typeface="Segoe UI"/>
                        </a:rPr>
                        <a:t>Eviction study + OSS release</a:t>
                      </a:r>
                    </a:p>
                  </a:txBody>
                  <a:tcPr>
                    <a:solidFill>
                      <a:srgbClr val="F4F7F9"/>
                    </a:solidFill>
                  </a:tcPr>
                </a:tc>
                <a:tc>
                  <a:txBody>
                    <a:bodyPr wrap="square"/>
                    <a:lstStyle/>
                    <a:p>
                      <a:pPr algn="ctr"/>
                      <a:r>
                        <a:rPr sz="1250" b="1">
                          <a:solidFill>
                            <a:srgbClr val="0B6E7A"/>
                          </a:solidFill>
                          <a:latin typeface="Segoe UI"/>
                        </a:rPr>
                        <a:t>adoption + citations</a:t>
                      </a:r>
                    </a:p>
                  </a:txBody>
                  <a:tcPr>
                    <a:solidFill>
                      <a:srgbClr val="F4F7F9"/>
                    </a:solidFill>
                  </a:tcPr>
                </a:tc>
              </a:tr>
              <a:tr h="548640">
                <a:tc>
                  <a:txBody>
                    <a:bodyPr wrap="square"/>
                    <a:lstStyle/>
                    <a:p>
                      <a:pPr algn="l"/>
                      <a:r>
                        <a:rPr sz="1250">
                          <a:solidFill>
                            <a:srgbClr val="1A1A1A"/>
                          </a:solidFill>
                          <a:latin typeface="Segoe UI"/>
                        </a:rPr>
                        <a:t>12–36 mo</a:t>
                      </a:r>
                    </a:p>
                  </a:txBody>
                  <a:tcPr>
                    <a:solidFill>
                      <a:srgbClr val="FFFFFF"/>
                    </a:solidFill>
                  </a:tcPr>
                </a:tc>
                <a:tc>
                  <a:txBody>
                    <a:bodyPr wrap="square"/>
                    <a:lstStyle/>
                    <a:p>
                      <a:pPr algn="ctr"/>
                      <a:r>
                        <a:rPr sz="1250">
                          <a:solidFill>
                            <a:srgbClr val="1A1A1A"/>
                          </a:solidFill>
                          <a:latin typeface="Segoe UI"/>
                        </a:rPr>
                        <a:t>Spin-out / license / upstream</a:t>
                      </a:r>
                    </a:p>
                  </a:txBody>
                  <a:tcPr>
                    <a:solidFill>
                      <a:srgbClr val="FFFFFF"/>
                    </a:solidFill>
                  </a:tcPr>
                </a:tc>
                <a:tc>
                  <a:txBody>
                    <a:bodyPr wrap="square"/>
                    <a:lstStyle/>
                    <a:p>
                      <a:pPr algn="ctr"/>
                      <a:r>
                        <a:rPr sz="1250" b="1">
                          <a:solidFill>
                            <a:srgbClr val="0B6E7A"/>
                          </a:solidFill>
                          <a:latin typeface="Segoe UI"/>
                        </a:rPr>
                        <a:t>value capture</a:t>
                      </a:r>
                    </a:p>
                  </a:txBody>
                  <a:tcPr>
                    <a:solidFill>
                      <a:srgbClr val="FFFFFF"/>
                    </a:solidFill>
                  </a:tcPr>
                </a:tc>
              </a:tr>
            </a:tbl>
          </a:graphicData>
        </a:graphic>
      </p:graphicFrame>
      <p:sp>
        <p:nvSpPr>
          <p:cNvPr id="7" name="Rectangle 6"/>
          <p:cNvSpPr/>
          <p:nvPr/>
        </p:nvSpPr>
        <p:spPr>
          <a:xfrm>
            <a:off x="8595360" y="1828800"/>
            <a:ext cx="2926080" cy="32918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0" y="2194560"/>
            <a:ext cx="2560320" cy="2743200"/>
          </a:xfrm>
          <a:prstGeom prst="rect">
            <a:avLst/>
          </a:prstGeom>
          <a:noFill/>
        </p:spPr>
        <p:txBody>
          <a:bodyPr wrap="square" anchor="ctr">
            <a:spAutoFit/>
          </a:bodyPr>
          <a:lstStyle/>
          <a:p>
            <a:pPr algn="ctr">
              <a:lnSpc>
                <a:spcPct val="115000"/>
              </a:lnSpc>
              <a:spcAft>
                <a:spcPts val="600"/>
              </a:spcAft>
            </a:pPr>
            <a:r>
              <a:rPr sz="2800" b="1" i="0">
                <a:solidFill>
                  <a:srgbClr val="FFFFFF"/>
                </a:solidFill>
                <a:latin typeface="Segoe UI"/>
              </a:rPr>
              <a:t>€80–120K</a:t>
            </a:r>
          </a:p>
          <a:p>
            <a:pPr algn="ctr">
              <a:lnSpc>
                <a:spcPct val="115000"/>
              </a:lnSpc>
              <a:spcAft>
                <a:spcPts val="600"/>
              </a:spcAft>
            </a:pPr>
            <a:r>
              <a:rPr sz="1500" b="0" i="0">
                <a:solidFill>
                  <a:srgbClr val="F4F7F9"/>
                </a:solidFill>
                <a:latin typeface="Segoe UI"/>
              </a:rPr>
              <a:t>hardware POC</a:t>
            </a:r>
          </a:p>
          <a:p>
            <a:pPr algn="ctr">
              <a:lnSpc>
                <a:spcPct val="115000"/>
              </a:lnSpc>
              <a:spcAft>
                <a:spcPts val="600"/>
              </a:spcAft>
            </a:pPr>
            <a:r>
              <a:rPr sz="800" b="0" i="0">
                <a:solidFill>
                  <a:srgbClr val="FFFFFF"/>
                </a:solidFill>
                <a:latin typeface="Segoe UI"/>
              </a:rPr>
              <a:t/>
            </a:r>
          </a:p>
          <a:p>
            <a:pPr algn="ctr">
              <a:lnSpc>
                <a:spcPct val="115000"/>
              </a:lnSpc>
              <a:spcAft>
                <a:spcPts val="600"/>
              </a:spcAft>
            </a:pPr>
            <a:r>
              <a:rPr sz="1400" b="0" i="0">
                <a:solidFill>
                  <a:srgbClr val="FFFFFF"/>
                </a:solidFill>
                <a:latin typeface="Segoe UI"/>
              </a:rPr>
              <a:t>CXL module
+ engineering time
+ cloud GPU credits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515600" cy="1463040"/>
          </a:xfrm>
          <a:prstGeom prst="rect">
            <a:avLst/>
          </a:prstGeom>
          <a:noFill/>
        </p:spPr>
        <p:txBody>
          <a:bodyPr wrap="square" anchor="t">
            <a:spAutoFit/>
          </a:bodyPr>
          <a:lstStyle/>
          <a:p>
            <a:pPr algn="l">
              <a:lnSpc>
                <a:spcPct val="105000"/>
              </a:lnSpc>
              <a:spcAft>
                <a:spcPts val="600"/>
              </a:spcAft>
            </a:pPr>
            <a:r>
              <a:rPr sz="3600" b="1" i="0">
                <a:solidFill>
                  <a:srgbClr val="FFFFFF"/>
                </a:solidFill>
                <a:latin typeface="Segoe UI"/>
              </a:rPr>
              <a:t>Turn the GPU memory wall</a:t>
            </a:r>
          </a:p>
          <a:p>
            <a:pPr algn="l">
              <a:lnSpc>
                <a:spcPct val="105000"/>
              </a:lnSpc>
              <a:spcAft>
                <a:spcPts val="600"/>
              </a:spcAft>
            </a:pPr>
            <a:r>
              <a:rPr sz="3600" b="1" i="0">
                <a:solidFill>
                  <a:srgbClr val="1B9AAA"/>
                </a:solidFill>
                <a:latin typeface="Segoe UI"/>
              </a:rPr>
              <a:t>into a memory hierarchy.</a:t>
            </a:r>
          </a:p>
        </p:txBody>
      </p:sp>
      <p:sp>
        <p:nvSpPr>
          <p:cNvPr id="5" name="TextBox 4"/>
          <p:cNvSpPr txBox="1"/>
          <p:nvPr/>
        </p:nvSpPr>
        <p:spPr>
          <a:xfrm>
            <a:off x="868680" y="3200400"/>
            <a:ext cx="10058400" cy="2011680"/>
          </a:xfrm>
          <a:prstGeom prst="rect">
            <a:avLst/>
          </a:prstGeom>
          <a:noFill/>
        </p:spPr>
        <p:txBody>
          <a:bodyPr wrap="square" anchor="t">
            <a:spAutoFit/>
          </a:bodyPr>
          <a:lstStyle/>
          <a:p>
            <a:pPr algn="l">
              <a:lnSpc>
                <a:spcPct val="120000"/>
              </a:lnSpc>
              <a:spcAft>
                <a:spcPts val="1400"/>
              </a:spcAft>
            </a:pPr>
            <a:r>
              <a:rPr sz="1600" b="1" i="0">
                <a:solidFill>
                  <a:srgbClr val="1B9AAA"/>
                </a:solidFill>
                <a:latin typeface="Segoe UI"/>
              </a:rPr>
              <a:t>▶  </a:t>
            </a:r>
            <a:r>
              <a:rPr sz="1700" b="0" i="0">
                <a:solidFill>
                  <a:srgbClr val="F4F7F9"/>
                </a:solidFill>
                <a:latin typeface="Segoe UI"/>
              </a:rPr>
              <a:t>Lower resume latency → real-time, long-context agents</a:t>
            </a:r>
          </a:p>
          <a:p>
            <a:pPr algn="l">
              <a:lnSpc>
                <a:spcPct val="120000"/>
              </a:lnSpc>
              <a:spcAft>
                <a:spcPts val="1400"/>
              </a:spcAft>
            </a:pPr>
            <a:r>
              <a:rPr sz="1600" b="1" i="0">
                <a:solidFill>
                  <a:srgbClr val="1B9AAA"/>
                </a:solidFill>
                <a:latin typeface="Segoe UI"/>
              </a:rPr>
              <a:t>▶  </a:t>
            </a:r>
            <a:r>
              <a:rPr sz="1700" b="0" i="0">
                <a:solidFill>
                  <a:srgbClr val="F4F7F9"/>
                </a:solidFill>
                <a:latin typeface="Segoe UI"/>
              </a:rPr>
              <a:t>Lower cost &amp; higher density → labs, hospitals, public institutions can deploy</a:t>
            </a:r>
          </a:p>
          <a:p>
            <a:pPr algn="l">
              <a:lnSpc>
                <a:spcPct val="120000"/>
              </a:lnSpc>
              <a:spcAft>
                <a:spcPts val="1400"/>
              </a:spcAft>
            </a:pPr>
            <a:r>
              <a:rPr sz="1600" b="1" i="0">
                <a:solidFill>
                  <a:srgbClr val="1B9AAA"/>
                </a:solidFill>
                <a:latin typeface="Segoe UI"/>
              </a:rPr>
              <a:t>▶  </a:t>
            </a:r>
            <a:r>
              <a:rPr sz="1700" b="0" i="0">
                <a:solidFill>
                  <a:srgbClr val="F4F7F9"/>
                </a:solidFill>
                <a:latin typeface="Segoe UI"/>
              </a:rPr>
              <a:t>More sustainable use of existing GPUs</a:t>
            </a:r>
          </a:p>
        </p:txBody>
      </p:sp>
      <p:sp>
        <p:nvSpPr>
          <p:cNvPr id="6" name="TextBox 5"/>
          <p:cNvSpPr txBox="1"/>
          <p:nvPr/>
        </p:nvSpPr>
        <p:spPr>
          <a:xfrm>
            <a:off x="868680" y="5394960"/>
            <a:ext cx="10058400" cy="640080"/>
          </a:xfrm>
          <a:prstGeom prst="rect">
            <a:avLst/>
          </a:prstGeom>
          <a:noFill/>
        </p:spPr>
        <p:txBody>
          <a:bodyPr wrap="square" anchor="t">
            <a:spAutoFit/>
          </a:bodyPr>
          <a:lstStyle/>
          <a:p>
            <a:pPr algn="l">
              <a:lnSpc>
                <a:spcPct val="100000"/>
              </a:lnSpc>
              <a:spcAft>
                <a:spcPts val="600"/>
              </a:spcAft>
            </a:pPr>
            <a:r>
              <a:rPr sz="1600" b="1" i="1">
                <a:solidFill>
                  <a:srgbClr val="FFFFFF"/>
                </a:solidFill>
                <a:latin typeface="Segoe UI"/>
              </a:rPr>
              <a:t>Make persistent AI agents practical without hyperscale infrastructure.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APPENDIX</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Supporting data: density &amp; cost</a:t>
            </a:r>
          </a:p>
        </p:txBody>
      </p:sp>
      <p:pic>
        <p:nvPicPr>
          <p:cNvPr id="6" name="Picture 5" descr="chart_density.png"/>
          <p:cNvPicPr>
            <a:picLocks noChangeAspect="1"/>
          </p:cNvPicPr>
          <p:nvPr/>
        </p:nvPicPr>
        <p:blipFill>
          <a:blip r:embed="rId2"/>
          <a:stretch>
            <a:fillRect/>
          </a:stretch>
        </p:blipFill>
        <p:spPr>
          <a:xfrm>
            <a:off x="548640" y="1828800"/>
            <a:ext cx="5394960" cy="4530169"/>
          </a:xfrm>
          <a:prstGeom prst="rect">
            <a:avLst/>
          </a:prstGeom>
        </p:spPr>
      </p:pic>
      <p:pic>
        <p:nvPicPr>
          <p:cNvPr id="7" name="Picture 6" descr="chart_cost.png"/>
          <p:cNvPicPr>
            <a:picLocks noChangeAspect="1"/>
          </p:cNvPicPr>
          <p:nvPr/>
        </p:nvPicPr>
        <p:blipFill>
          <a:blip r:embed="rId3"/>
          <a:stretch>
            <a:fillRect/>
          </a:stretch>
        </p:blipFill>
        <p:spPr>
          <a:xfrm>
            <a:off x="6217920" y="1828800"/>
            <a:ext cx="5394960" cy="448591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247120" cy="365760"/>
          </a:xfrm>
          <a:prstGeom prst="rect">
            <a:avLst/>
          </a:prstGeom>
          <a:noFill/>
        </p:spPr>
        <p:txBody>
          <a:bodyPr wrap="square" anchor="t">
            <a:spAutoFit/>
          </a:bodyPr>
          <a:lstStyle/>
          <a:p>
            <a:pPr algn="l">
              <a:lnSpc>
                <a:spcPct val="100000"/>
              </a:lnSpc>
              <a:spcAft>
                <a:spcPts val="600"/>
              </a:spcAft>
            </a:pPr>
            <a:r>
              <a:rPr sz="1300" b="1" i="0">
                <a:solidFill>
                  <a:srgbClr val="0B6E7A"/>
                </a:solidFill>
                <a:latin typeface="Segoe UI"/>
              </a:rPr>
              <a:t>APPENDIX</a:t>
            </a:r>
          </a:p>
        </p:txBody>
      </p:sp>
      <p:sp>
        <p:nvSpPr>
          <p:cNvPr id="5" name="TextBox 4"/>
          <p:cNvSpPr txBox="1"/>
          <p:nvPr/>
        </p:nvSpPr>
        <p:spPr>
          <a:xfrm>
            <a:off x="502920" y="621792"/>
            <a:ext cx="11247120" cy="868680"/>
          </a:xfrm>
          <a:prstGeom prst="rect">
            <a:avLst/>
          </a:prstGeom>
          <a:noFill/>
        </p:spPr>
        <p:txBody>
          <a:bodyPr wrap="square" anchor="t">
            <a:spAutoFit/>
          </a:bodyPr>
          <a:lstStyle/>
          <a:p>
            <a:pPr algn="l">
              <a:lnSpc>
                <a:spcPct val="100000"/>
              </a:lnSpc>
              <a:spcAft>
                <a:spcPts val="600"/>
              </a:spcAft>
            </a:pPr>
            <a:r>
              <a:rPr sz="3000" b="1" i="0">
                <a:solidFill>
                  <a:srgbClr val="0B1F3A"/>
                </a:solidFill>
                <a:latin typeface="Segoe UI"/>
              </a:rPr>
              <a:t>Reproducibility &amp; honesty</a:t>
            </a:r>
          </a:p>
        </p:txBody>
      </p:sp>
      <p:sp>
        <p:nvSpPr>
          <p:cNvPr id="6" name="Rectangle 5"/>
          <p:cNvSpPr/>
          <p:nvPr/>
        </p:nvSpPr>
        <p:spPr>
          <a:xfrm>
            <a:off x="640080" y="1828800"/>
            <a:ext cx="6583680" cy="31089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6126480" cy="2743200"/>
          </a:xfrm>
          <a:prstGeom prst="rect">
            <a:avLst/>
          </a:prstGeom>
          <a:noFill/>
        </p:spPr>
        <p:txBody>
          <a:bodyPr wrap="square" anchor="t">
            <a:spAutoFit/>
          </a:bodyPr>
          <a:lstStyle/>
          <a:p>
            <a:pPr algn="l">
              <a:lnSpc>
                <a:spcPct val="125000"/>
              </a:lnSpc>
              <a:spcAft>
                <a:spcPts val="600"/>
              </a:spcAft>
            </a:pPr>
            <a:r>
              <a:rPr sz="1500" b="1" i="0">
                <a:solidFill>
                  <a:srgbClr val="1B9AAA"/>
                </a:solidFill>
                <a:latin typeface="Segoe UI"/>
              </a:rPr>
              <a:t>Reproduce every number:</a:t>
            </a:r>
          </a:p>
          <a:p>
            <a:pPr algn="l">
              <a:lnSpc>
                <a:spcPct val="125000"/>
              </a:lnSpc>
              <a:spcAft>
                <a:spcPts val="600"/>
              </a:spcAft>
            </a:pPr>
            <a:r>
              <a:rPr sz="1300" b="0" i="0">
                <a:solidFill>
                  <a:srgbClr val="FFFFFF"/>
                </a:solidFill>
                <a:latin typeface="Segoe UI"/>
              </a:rPr>
              <a:t>pip install -e ".[dev]"</a:t>
            </a:r>
          </a:p>
          <a:p>
            <a:pPr algn="l">
              <a:lnSpc>
                <a:spcPct val="125000"/>
              </a:lnSpc>
              <a:spcAft>
                <a:spcPts val="600"/>
              </a:spcAft>
            </a:pPr>
            <a:r>
              <a:rPr sz="1300" b="0" i="0">
                <a:solidFill>
                  <a:srgbClr val="FFFFFF"/>
                </a:solidFill>
                <a:latin typeface="Segoe UI"/>
              </a:rPr>
              <a:t>python -m pytest tests/ -v</a:t>
            </a:r>
          </a:p>
          <a:p>
            <a:pPr algn="l">
              <a:lnSpc>
                <a:spcPct val="125000"/>
              </a:lnSpc>
              <a:spcAft>
                <a:spcPts val="600"/>
              </a:spcAft>
            </a:pPr>
            <a:r>
              <a:rPr sz="1300" b="0" i="0">
                <a:solidFill>
                  <a:srgbClr val="FFFFFF"/>
                </a:solidFill>
                <a:latin typeface="Segoe UI"/>
              </a:rPr>
              <a:t>python benchmarks/run_simulation.py</a:t>
            </a:r>
          </a:p>
          <a:p>
            <a:pPr algn="l">
              <a:lnSpc>
                <a:spcPct val="125000"/>
              </a:lnSpc>
              <a:spcAft>
                <a:spcPts val="600"/>
              </a:spcAft>
            </a:pPr>
            <a:r>
              <a:rPr sz="1300" b="0" i="0">
                <a:solidFill>
                  <a:srgbClr val="FFFFFF"/>
                </a:solidFill>
                <a:latin typeface="Segoe UI"/>
              </a:rPr>
              <a:t>python benchmarks/run_robustness.py</a:t>
            </a:r>
          </a:p>
          <a:p>
            <a:pPr algn="l">
              <a:lnSpc>
                <a:spcPct val="125000"/>
              </a:lnSpc>
              <a:spcAft>
                <a:spcPts val="600"/>
              </a:spcAft>
            </a:pPr>
            <a:r>
              <a:rPr sz="1300" b="0" i="0">
                <a:solidFill>
                  <a:srgbClr val="FFFFFF"/>
                </a:solidFill>
                <a:latin typeface="Segoe UI"/>
              </a:rPr>
              <a:t>python benchmarks/compare_policies.py</a:t>
            </a:r>
          </a:p>
          <a:p>
            <a:pPr algn="l">
              <a:lnSpc>
                <a:spcPct val="125000"/>
              </a:lnSpc>
              <a:spcAft>
                <a:spcPts val="600"/>
              </a:spcAft>
            </a:pPr>
            <a:r>
              <a:rPr sz="800" b="0" i="0">
                <a:solidFill>
                  <a:srgbClr val="FFFFFF"/>
                </a:solidFill>
                <a:latin typeface="Segoe UI"/>
              </a:rPr>
              <a:t/>
            </a:r>
          </a:p>
          <a:p>
            <a:pPr algn="l">
              <a:lnSpc>
                <a:spcPct val="125000"/>
              </a:lnSpc>
              <a:spcAft>
                <a:spcPts val="600"/>
              </a:spcAft>
            </a:pPr>
            <a:r>
              <a:rPr sz="1300" b="0" i="0">
                <a:solidFill>
                  <a:srgbClr val="F4F7F9"/>
                </a:solidFill>
                <a:latin typeface="Segoe UI"/>
              </a:rPr>
              <a:t>74 automated tests · every constant from a datasheet</a:t>
            </a:r>
          </a:p>
        </p:txBody>
      </p:sp>
      <p:sp>
        <p:nvSpPr>
          <p:cNvPr id="8" name="TextBox 7"/>
          <p:cNvSpPr txBox="1"/>
          <p:nvPr/>
        </p:nvSpPr>
        <p:spPr>
          <a:xfrm>
            <a:off x="7498079" y="1828800"/>
            <a:ext cx="4114800" cy="4114800"/>
          </a:xfrm>
          <a:prstGeom prst="rect">
            <a:avLst/>
          </a:prstGeom>
          <a:noFill/>
        </p:spPr>
        <p:txBody>
          <a:bodyPr wrap="square" anchor="t">
            <a:spAutoFit/>
          </a:bodyPr>
          <a:lstStyle/>
          <a:p>
            <a:pPr algn="l">
              <a:lnSpc>
                <a:spcPct val="120000"/>
              </a:lnSpc>
              <a:spcAft>
                <a:spcPts val="600"/>
              </a:spcAft>
            </a:pPr>
            <a:r>
              <a:rPr sz="1500" b="1" i="0">
                <a:solidFill>
                  <a:srgbClr val="0B1F3A"/>
                </a:solidFill>
                <a:latin typeface="Segoe UI"/>
              </a:rPr>
              <a:t>The honesty line:</a:t>
            </a:r>
          </a:p>
          <a:p>
            <a:pPr algn="l">
              <a:lnSpc>
                <a:spcPct val="120000"/>
              </a:lnSpc>
              <a:spcAft>
                <a:spcPts val="600"/>
              </a:spcAft>
            </a:pPr>
            <a:r>
              <a:rPr sz="1500" b="0" i="1">
                <a:solidFill>
                  <a:srgbClr val="1A1A1A"/>
                </a:solidFill>
                <a:latin typeface="Segoe UI"/>
              </a:rPr>
              <a:t>“This is simulation, calibrated to published hardware specs — not yet measured on real hardware. That's exactly what the hardware-validation phase is for.”</a:t>
            </a:r>
          </a:p>
          <a:p>
            <a:pPr algn="l">
              <a:lnSpc>
                <a:spcPct val="120000"/>
              </a:lnSpc>
              <a:spcAft>
                <a:spcPts val="600"/>
              </a:spcAft>
            </a:pPr>
            <a:r>
              <a:rPr sz="800" b="0" i="0">
                <a:solidFill>
                  <a:srgbClr val="1A1A1A"/>
                </a:solidFill>
                <a:latin typeface="Segoe UI"/>
              </a:rPr>
              <a:t/>
            </a:r>
          </a:p>
          <a:p>
            <a:pPr algn="l">
              <a:lnSpc>
                <a:spcPct val="120000"/>
              </a:lnSpc>
              <a:spcAft>
                <a:spcPts val="600"/>
              </a:spcAft>
            </a:pPr>
            <a:r>
              <a:rPr sz="1200" b="0" i="0">
                <a:solidFill>
                  <a:srgbClr val="555F6B"/>
                </a:solidFill>
                <a:latin typeface="Segoe UI"/>
              </a:rPr>
              <a:t>Sources: H100 HBM3 datasheet, Samsung CMM-D CXL 2.0, NVMe Gen4, MLPerf v4.0, KIVI/KVQuant.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